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1828800" y="5120640"/>
            <a:ext cx="18288000" cy="2286000"/>
          </a:xfrm>
          <a:prstGeom prst="parallelogram">
            <a:avLst/>
          </a:prstGeom>
          <a:solidFill>
            <a:srgbClr val="1428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011680"/>
            <a:ext cx="731520" cy="73152"/>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457200"/>
            <a:ext cx="7315200" cy="365760"/>
          </a:xfrm>
          <a:prstGeom prst="rect">
            <a:avLst/>
          </a:prstGeom>
          <a:noFill/>
        </p:spPr>
        <p:txBody>
          <a:bodyPr wrap="square" lIns="45720" rIns="45720" tIns="18288" bIns="18288" anchor="t">
            <a:spAutoFit/>
          </a:bodyPr>
          <a:lstStyle/>
          <a:p>
            <a:pPr algn="l"/>
            <a:r>
              <a:rPr sz="1200" b="1" i="0">
                <a:solidFill>
                  <a:srgbClr val="E3B341"/>
                </a:solidFill>
                <a:latin typeface="Calibri"/>
              </a:rPr>
              <a:t>IMAM ABDULRAHMAN BIN FAISAL UNIVERSITY</a:t>
            </a:r>
          </a:p>
        </p:txBody>
      </p:sp>
      <p:sp>
        <p:nvSpPr>
          <p:cNvPr id="6" name="TextBox 5"/>
          <p:cNvSpPr txBox="1"/>
          <p:nvPr/>
        </p:nvSpPr>
        <p:spPr>
          <a:xfrm>
            <a:off x="457200" y="777240"/>
            <a:ext cx="7315200" cy="365760"/>
          </a:xfrm>
          <a:prstGeom prst="rect">
            <a:avLst/>
          </a:prstGeom>
          <a:noFill/>
        </p:spPr>
        <p:txBody>
          <a:bodyPr wrap="square" lIns="45720" rIns="45720" tIns="18288" bIns="18288" anchor="t">
            <a:spAutoFit/>
          </a:bodyPr>
          <a:lstStyle/>
          <a:p>
            <a:pPr algn="l"/>
            <a:r>
              <a:rPr sz="1100" b="0" i="0">
                <a:solidFill>
                  <a:srgbClr val="B8C8DC"/>
                </a:solidFill>
                <a:latin typeface="Calibri"/>
              </a:rPr>
              <a:t>College of Computer Science and Information Technology</a:t>
            </a:r>
          </a:p>
        </p:txBody>
      </p:sp>
      <p:sp>
        <p:nvSpPr>
          <p:cNvPr id="7" name="Rounded Rectangle 6"/>
          <p:cNvSpPr/>
          <p:nvPr/>
        </p:nvSpPr>
        <p:spPr>
          <a:xfrm>
            <a:off x="457200" y="1371600"/>
            <a:ext cx="2194560" cy="41148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200" b="1">
                <a:solidFill>
                  <a:srgbClr val="FFFFFF"/>
                </a:solidFill>
                <a:latin typeface="Calibri"/>
              </a:rPr>
              <a:t>CS 516 · Term Project</a:t>
            </a:r>
          </a:p>
        </p:txBody>
      </p:sp>
      <p:sp>
        <p:nvSpPr>
          <p:cNvPr id="8" name="TextBox 7"/>
          <p:cNvSpPr txBox="1"/>
          <p:nvPr/>
        </p:nvSpPr>
        <p:spPr>
          <a:xfrm>
            <a:off x="457200" y="2194560"/>
            <a:ext cx="11247120" cy="1371600"/>
          </a:xfrm>
          <a:prstGeom prst="rect">
            <a:avLst/>
          </a:prstGeom>
          <a:noFill/>
        </p:spPr>
        <p:txBody>
          <a:bodyPr wrap="square" lIns="45720" rIns="45720" tIns="18288" bIns="18288" anchor="t">
            <a:spAutoFit/>
          </a:bodyPr>
          <a:lstStyle/>
          <a:p>
            <a:pPr algn="l"/>
            <a:r>
              <a:rPr sz="5400" b="1" i="0">
                <a:solidFill>
                  <a:srgbClr val="FFFFFF"/>
                </a:solidFill>
                <a:latin typeface="Calibri"/>
              </a:rPr>
              <a:t>Smart Student Management</a:t>
            </a:r>
          </a:p>
        </p:txBody>
      </p:sp>
      <p:sp>
        <p:nvSpPr>
          <p:cNvPr id="9" name="TextBox 8"/>
          <p:cNvSpPr txBox="1"/>
          <p:nvPr/>
        </p:nvSpPr>
        <p:spPr>
          <a:xfrm>
            <a:off x="457200" y="3108960"/>
            <a:ext cx="11247120" cy="1371600"/>
          </a:xfrm>
          <a:prstGeom prst="rect">
            <a:avLst/>
          </a:prstGeom>
          <a:noFill/>
        </p:spPr>
        <p:txBody>
          <a:bodyPr wrap="square" lIns="45720" rIns="45720" tIns="18288" bIns="18288" anchor="t">
            <a:spAutoFit/>
          </a:bodyPr>
          <a:lstStyle/>
          <a:p>
            <a:pPr algn="l"/>
            <a:r>
              <a:rPr sz="5400" b="1" i="0">
                <a:solidFill>
                  <a:srgbClr val="E3B341"/>
                </a:solidFill>
                <a:latin typeface="Calibri"/>
              </a:rPr>
              <a:t>&amp; Attendance System</a:t>
            </a:r>
          </a:p>
        </p:txBody>
      </p:sp>
      <p:sp>
        <p:nvSpPr>
          <p:cNvPr id="10" name="TextBox 9"/>
          <p:cNvSpPr txBox="1"/>
          <p:nvPr/>
        </p:nvSpPr>
        <p:spPr>
          <a:xfrm>
            <a:off x="457200" y="4297680"/>
            <a:ext cx="11247120" cy="548640"/>
          </a:xfrm>
          <a:prstGeom prst="rect">
            <a:avLst/>
          </a:prstGeom>
          <a:noFill/>
        </p:spPr>
        <p:txBody>
          <a:bodyPr wrap="square" lIns="45720" rIns="45720" tIns="18288" bIns="18288" anchor="t">
            <a:spAutoFit/>
          </a:bodyPr>
          <a:lstStyle/>
          <a:p>
            <a:pPr algn="l"/>
            <a:r>
              <a:rPr sz="1800" b="0" i="1">
                <a:solidFill>
                  <a:srgbClr val="B8C8DC"/>
                </a:solidFill>
                <a:latin typeface="Calibri"/>
              </a:rPr>
              <a:t>A client–server application built twice — in Python and in C++</a:t>
            </a:r>
          </a:p>
        </p:txBody>
      </p:sp>
      <p:sp>
        <p:nvSpPr>
          <p:cNvPr id="11" name="TextBox 10"/>
          <p:cNvSpPr txBox="1"/>
          <p:nvPr/>
        </p:nvSpPr>
        <p:spPr>
          <a:xfrm>
            <a:off x="457200" y="5486400"/>
            <a:ext cx="5486400" cy="365760"/>
          </a:xfrm>
          <a:prstGeom prst="rect">
            <a:avLst/>
          </a:prstGeom>
          <a:noFill/>
        </p:spPr>
        <p:txBody>
          <a:bodyPr wrap="square" lIns="45720" rIns="45720" tIns="18288" bIns="18288" anchor="t">
            <a:spAutoFit/>
          </a:bodyPr>
          <a:lstStyle/>
          <a:p>
            <a:pPr algn="l"/>
            <a:r>
              <a:rPr sz="1000" b="1" i="0">
                <a:solidFill>
                  <a:srgbClr val="E3B341"/>
                </a:solidFill>
                <a:latin typeface="Calibri"/>
              </a:rPr>
              <a:t>TEAM</a:t>
            </a:r>
          </a:p>
        </p:txBody>
      </p:sp>
      <p:sp>
        <p:nvSpPr>
          <p:cNvPr id="12" name="TextBox 11"/>
          <p:cNvSpPr txBox="1"/>
          <p:nvPr/>
        </p:nvSpPr>
        <p:spPr>
          <a:xfrm>
            <a:off x="457200" y="5806440"/>
            <a:ext cx="7315200" cy="457200"/>
          </a:xfrm>
          <a:prstGeom prst="rect">
            <a:avLst/>
          </a:prstGeom>
          <a:noFill/>
        </p:spPr>
        <p:txBody>
          <a:bodyPr wrap="square" lIns="45720" rIns="45720" tIns="18288" bIns="18288" anchor="t">
            <a:spAutoFit/>
          </a:bodyPr>
          <a:lstStyle/>
          <a:p>
            <a:pPr algn="l"/>
            <a:r>
              <a:rPr sz="1400" b="1" i="0">
                <a:solidFill>
                  <a:srgbClr val="FFFFFF"/>
                </a:solidFill>
                <a:latin typeface="Calibri"/>
              </a:rPr>
              <a:t>Ahmed Mabkhot Al-Awlaqi  ·  Abdulaziz Alghamdi  ·  Abdullah Alsaedi</a:t>
            </a:r>
          </a:p>
        </p:txBody>
      </p:sp>
      <p:sp>
        <p:nvSpPr>
          <p:cNvPr id="13" name="TextBox 12"/>
          <p:cNvSpPr txBox="1"/>
          <p:nvPr/>
        </p:nvSpPr>
        <p:spPr>
          <a:xfrm>
            <a:off x="457200" y="6172200"/>
            <a:ext cx="7315200" cy="365760"/>
          </a:xfrm>
          <a:prstGeom prst="rect">
            <a:avLst/>
          </a:prstGeom>
          <a:noFill/>
        </p:spPr>
        <p:txBody>
          <a:bodyPr wrap="square" lIns="45720" rIns="45720" tIns="18288" bIns="18288" anchor="t">
            <a:spAutoFit/>
          </a:bodyPr>
          <a:lstStyle/>
          <a:p>
            <a:pPr algn="l"/>
            <a:r>
              <a:rPr sz="1100" b="0" i="0">
                <a:solidFill>
                  <a:srgbClr val="B8C8DC"/>
                </a:solidFill>
                <a:latin typeface="Calibri"/>
              </a:rPr>
              <a:t>2220007240   ·   2220003178   ·   2220002306</a:t>
            </a:r>
          </a:p>
        </p:txBody>
      </p:sp>
      <p:sp>
        <p:nvSpPr>
          <p:cNvPr id="14" name="TextBox 13"/>
          <p:cNvSpPr txBox="1"/>
          <p:nvPr/>
        </p:nvSpPr>
        <p:spPr>
          <a:xfrm>
            <a:off x="8686800" y="5806440"/>
            <a:ext cx="3200400" cy="457200"/>
          </a:xfrm>
          <a:prstGeom prst="rect">
            <a:avLst/>
          </a:prstGeom>
          <a:noFill/>
        </p:spPr>
        <p:txBody>
          <a:bodyPr wrap="square" lIns="45720" rIns="45720" tIns="18288" bIns="18288" anchor="t">
            <a:spAutoFit/>
          </a:bodyPr>
          <a:lstStyle/>
          <a:p>
            <a:pPr algn="r"/>
            <a:r>
              <a:rPr sz="1000" b="0" i="0">
                <a:solidFill>
                  <a:srgbClr val="E3B341"/>
                </a:solidFill>
                <a:latin typeface="Calibri"/>
              </a:rPr>
              <a:t>Submitted to</a:t>
            </a:r>
          </a:p>
        </p:txBody>
      </p:sp>
      <p:sp>
        <p:nvSpPr>
          <p:cNvPr id="15" name="TextBox 14"/>
          <p:cNvSpPr txBox="1"/>
          <p:nvPr/>
        </p:nvSpPr>
        <p:spPr>
          <a:xfrm>
            <a:off x="8686800" y="6080760"/>
            <a:ext cx="3200400" cy="457200"/>
          </a:xfrm>
          <a:prstGeom prst="rect">
            <a:avLst/>
          </a:prstGeom>
          <a:noFill/>
        </p:spPr>
        <p:txBody>
          <a:bodyPr wrap="square" lIns="45720" rIns="45720" tIns="18288" bIns="18288" anchor="t">
            <a:spAutoFit/>
          </a:bodyPr>
          <a:lstStyle/>
          <a:p>
            <a:pPr algn="r"/>
            <a:r>
              <a:rPr sz="1400" b="1" i="0">
                <a:solidFill>
                  <a:srgbClr val="FFFFFF"/>
                </a:solidFill>
                <a:latin typeface="Calibri"/>
              </a:rPr>
              <a:t>Dr. Dhiaa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9144000" cy="548640"/>
          </a:xfrm>
          <a:prstGeom prst="rect">
            <a:avLst/>
          </a:prstGeom>
          <a:noFill/>
        </p:spPr>
        <p:txBody>
          <a:bodyPr wrap="square" lIns="45720" rIns="45720" tIns="18288" bIns="18288" anchor="ctr">
            <a:spAutoFit/>
          </a:bodyPr>
          <a:lstStyle/>
          <a:p>
            <a:pPr algn="l"/>
            <a:r>
              <a:rPr sz="2800" b="1" i="0">
                <a:solidFill>
                  <a:srgbClr val="FFFFFF"/>
                </a:solidFill>
                <a:latin typeface="Calibri"/>
              </a:rPr>
              <a:t>The Problem</a:t>
            </a:r>
          </a:p>
        </p:txBody>
      </p:sp>
      <p:sp>
        <p:nvSpPr>
          <p:cNvPr id="6" name="TextBox 5"/>
          <p:cNvSpPr txBox="1"/>
          <p:nvPr/>
        </p:nvSpPr>
        <p:spPr>
          <a:xfrm>
            <a:off x="457200" y="502920"/>
            <a:ext cx="9144000" cy="365760"/>
          </a:xfrm>
          <a:prstGeom prst="rect">
            <a:avLst/>
          </a:prstGeom>
          <a:noFill/>
        </p:spPr>
        <p:txBody>
          <a:bodyPr wrap="square" lIns="45720" rIns="45720" tIns="18288" bIns="18288" anchor="t">
            <a:spAutoFit/>
          </a:bodyPr>
          <a:lstStyle/>
          <a:p>
            <a:pPr algn="l"/>
            <a:r>
              <a:rPr sz="1200" b="0" i="1">
                <a:solidFill>
                  <a:srgbClr val="9BD1FF"/>
                </a:solidFill>
                <a:latin typeface="Calibri"/>
              </a:rPr>
              <a:t>Why we built this</a:t>
            </a:r>
          </a:p>
        </p:txBody>
      </p:sp>
      <p:sp>
        <p:nvSpPr>
          <p:cNvPr id="7" name="TextBox 6"/>
          <p:cNvSpPr txBox="1"/>
          <p:nvPr/>
        </p:nvSpPr>
        <p:spPr>
          <a:xfrm>
            <a:off x="10789920" y="228600"/>
            <a:ext cx="1280160" cy="457200"/>
          </a:xfrm>
          <a:prstGeom prst="rect">
            <a:avLst/>
          </a:prstGeom>
          <a:noFill/>
        </p:spPr>
        <p:txBody>
          <a:bodyPr wrap="square" lIns="45720" rIns="45720" tIns="18288" bIns="18288" anchor="ctr">
            <a:spAutoFit/>
          </a:bodyPr>
          <a:lstStyle/>
          <a:p>
            <a:pPr algn="r"/>
            <a:r>
              <a:rPr sz="1100" b="0" i="0">
                <a:solidFill>
                  <a:srgbClr val="FFFFFF"/>
                </a:solidFill>
                <a:latin typeface="Calibri"/>
              </a:rPr>
              <a:t>CS516 · IAU</a:t>
            </a:r>
          </a:p>
        </p:txBody>
      </p:sp>
      <p:sp>
        <p:nvSpPr>
          <p:cNvPr id="8" name="Rectangle 7"/>
          <p:cNvSpPr/>
          <p:nvPr/>
        </p:nvSpPr>
        <p:spPr>
          <a:xfrm>
            <a:off x="548640" y="1280160"/>
            <a:ext cx="6858000" cy="50292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463040"/>
            <a:ext cx="457200" cy="457200"/>
          </a:xfrm>
          <a:prstGeom prst="rect">
            <a:avLst/>
          </a:prstGeom>
          <a:noFill/>
        </p:spPr>
        <p:txBody>
          <a:bodyPr wrap="square" lIns="45720" rIns="45720" tIns="18288" bIns="18288" anchor="t">
            <a:spAutoFit/>
          </a:bodyPr>
          <a:lstStyle/>
          <a:p>
            <a:pPr algn="l"/>
            <a:r>
              <a:rPr sz="7200" b="1" i="0">
                <a:solidFill>
                  <a:srgbClr val="1F3A5F"/>
                </a:solidFill>
                <a:latin typeface="Calibri"/>
              </a:rPr>
              <a:t>“</a:t>
            </a:r>
          </a:p>
        </p:txBody>
      </p:sp>
      <p:sp>
        <p:nvSpPr>
          <p:cNvPr id="10" name="TextBox 9"/>
          <p:cNvSpPr txBox="1"/>
          <p:nvPr/>
        </p:nvSpPr>
        <p:spPr>
          <a:xfrm>
            <a:off x="1280160" y="1737360"/>
            <a:ext cx="5943600" cy="2194560"/>
          </a:xfrm>
          <a:prstGeom prst="rect">
            <a:avLst/>
          </a:prstGeom>
          <a:noFill/>
        </p:spPr>
        <p:txBody>
          <a:bodyPr wrap="square" lIns="45720" rIns="45720" tIns="18288" bIns="18288" anchor="t">
            <a:spAutoFit/>
          </a:bodyPr>
          <a:lstStyle/>
          <a:p>
            <a:pPr algn="l"/>
            <a:r>
              <a:rPr sz="1800" b="0" i="1">
                <a:solidFill>
                  <a:srgbClr val="1B2128"/>
                </a:solidFill>
                <a:latin typeface="Calibri"/>
              </a:rPr>
              <a:t>Most departments still juggle paper attendance sheets, Excel files, and the occasional WhatsApp group. Sheets get lost. Two instructors mark the same student twice. And at the end of the semester, somebody has to count rows manually.</a:t>
            </a:r>
          </a:p>
        </p:txBody>
      </p:sp>
      <p:sp>
        <p:nvSpPr>
          <p:cNvPr id="11" name="TextBox 10"/>
          <p:cNvSpPr txBox="1"/>
          <p:nvPr/>
        </p:nvSpPr>
        <p:spPr>
          <a:xfrm>
            <a:off x="1280160" y="4114800"/>
            <a:ext cx="5943600" cy="457200"/>
          </a:xfrm>
          <a:prstGeom prst="rect">
            <a:avLst/>
          </a:prstGeom>
          <a:noFill/>
        </p:spPr>
        <p:txBody>
          <a:bodyPr wrap="square" lIns="45720" rIns="45720" tIns="18288" bIns="18288" anchor="t">
            <a:spAutoFit/>
          </a:bodyPr>
          <a:lstStyle/>
          <a:p>
            <a:pPr algn="l"/>
            <a:r>
              <a:rPr sz="1200" b="0" i="0">
                <a:solidFill>
                  <a:srgbClr val="5F6B7C"/>
                </a:solidFill>
                <a:latin typeface="Calibri"/>
              </a:rPr>
              <a:t>— our starting point</a:t>
            </a:r>
          </a:p>
        </p:txBody>
      </p:sp>
      <p:sp>
        <p:nvSpPr>
          <p:cNvPr id="12" name="TextBox 11"/>
          <p:cNvSpPr txBox="1"/>
          <p:nvPr/>
        </p:nvSpPr>
        <p:spPr>
          <a:xfrm>
            <a:off x="7772400" y="1280160"/>
            <a:ext cx="4114800" cy="457200"/>
          </a:xfrm>
          <a:prstGeom prst="rect">
            <a:avLst/>
          </a:prstGeom>
          <a:noFill/>
        </p:spPr>
        <p:txBody>
          <a:bodyPr wrap="square" lIns="45720" rIns="45720" tIns="18288" bIns="18288" anchor="t">
            <a:spAutoFit/>
          </a:bodyPr>
          <a:lstStyle/>
          <a:p>
            <a:pPr algn="l"/>
            <a:r>
              <a:rPr sz="1200" b="1" i="0">
                <a:solidFill>
                  <a:srgbClr val="1F3A5F"/>
                </a:solidFill>
                <a:latin typeface="Calibri"/>
              </a:rPr>
              <a:t>WHAT GOES WRONG TODAY</a:t>
            </a:r>
          </a:p>
        </p:txBody>
      </p:sp>
      <p:sp>
        <p:nvSpPr>
          <p:cNvPr id="13" name="Rectangle 12"/>
          <p:cNvSpPr/>
          <p:nvPr/>
        </p:nvSpPr>
        <p:spPr>
          <a:xfrm>
            <a:off x="7772400" y="1828800"/>
            <a:ext cx="4114800" cy="1005840"/>
          </a:xfrm>
          <a:prstGeom prst="rect">
            <a:avLst/>
          </a:prstGeom>
          <a:solidFill>
            <a:srgbClr val="FFFFFF"/>
          </a:solidFill>
          <a:ln>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60" y="1965960"/>
            <a:ext cx="548640" cy="731520"/>
          </a:xfrm>
          <a:prstGeom prst="rect">
            <a:avLst/>
          </a:prstGeom>
          <a:noFill/>
        </p:spPr>
        <p:txBody>
          <a:bodyPr wrap="square" lIns="45720" rIns="45720" tIns="18288" bIns="18288" anchor="ctr">
            <a:spAutoFit/>
          </a:bodyPr>
          <a:lstStyle/>
          <a:p>
            <a:pPr algn="l"/>
            <a:r>
              <a:rPr sz="2400" b="0" i="0">
                <a:solidFill>
                  <a:srgbClr val="1B2128"/>
                </a:solidFill>
                <a:latin typeface="Calibri"/>
              </a:rPr>
              <a:t>📋</a:t>
            </a:r>
          </a:p>
        </p:txBody>
      </p:sp>
      <p:sp>
        <p:nvSpPr>
          <p:cNvPr id="15" name="TextBox 14"/>
          <p:cNvSpPr txBox="1"/>
          <p:nvPr/>
        </p:nvSpPr>
        <p:spPr>
          <a:xfrm>
            <a:off x="8503920" y="1920240"/>
            <a:ext cx="2743200" cy="365760"/>
          </a:xfrm>
          <a:prstGeom prst="rect">
            <a:avLst/>
          </a:prstGeom>
          <a:noFill/>
        </p:spPr>
        <p:txBody>
          <a:bodyPr wrap="square" lIns="45720" rIns="45720" tIns="18288" bIns="18288" anchor="t">
            <a:spAutoFit/>
          </a:bodyPr>
          <a:lstStyle/>
          <a:p>
            <a:pPr algn="l"/>
            <a:r>
              <a:rPr sz="1400" b="1" i="0">
                <a:solidFill>
                  <a:srgbClr val="1F3A5F"/>
                </a:solidFill>
                <a:latin typeface="Calibri"/>
              </a:rPr>
              <a:t>Lost sheets</a:t>
            </a:r>
          </a:p>
        </p:txBody>
      </p:sp>
      <p:sp>
        <p:nvSpPr>
          <p:cNvPr id="16" name="TextBox 15"/>
          <p:cNvSpPr txBox="1"/>
          <p:nvPr/>
        </p:nvSpPr>
        <p:spPr>
          <a:xfrm>
            <a:off x="8503920" y="2240280"/>
            <a:ext cx="2743200" cy="548640"/>
          </a:xfrm>
          <a:prstGeom prst="rect">
            <a:avLst/>
          </a:prstGeom>
          <a:noFill/>
        </p:spPr>
        <p:txBody>
          <a:bodyPr wrap="square" lIns="45720" rIns="45720" tIns="18288" bIns="18288" anchor="t">
            <a:spAutoFit/>
          </a:bodyPr>
          <a:lstStyle/>
          <a:p>
            <a:pPr algn="l"/>
            <a:r>
              <a:rPr sz="1000" b="0" i="0">
                <a:solidFill>
                  <a:srgbClr val="5F6B7C"/>
                </a:solidFill>
                <a:latin typeface="Calibri"/>
              </a:rPr>
              <a:t>Paper attendance can disappear before grades close.</a:t>
            </a:r>
          </a:p>
        </p:txBody>
      </p:sp>
      <p:sp>
        <p:nvSpPr>
          <p:cNvPr id="17" name="Rectangle 16"/>
          <p:cNvSpPr/>
          <p:nvPr/>
        </p:nvSpPr>
        <p:spPr>
          <a:xfrm>
            <a:off x="7772400" y="2971800"/>
            <a:ext cx="4114800" cy="1005840"/>
          </a:xfrm>
          <a:prstGeom prst="rect">
            <a:avLst/>
          </a:prstGeom>
          <a:solidFill>
            <a:srgbClr val="FFFFFF"/>
          </a:solidFill>
          <a:ln>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09560" y="3108960"/>
            <a:ext cx="548640" cy="731520"/>
          </a:xfrm>
          <a:prstGeom prst="rect">
            <a:avLst/>
          </a:prstGeom>
          <a:noFill/>
        </p:spPr>
        <p:txBody>
          <a:bodyPr wrap="square" lIns="45720" rIns="45720" tIns="18288" bIns="18288" anchor="ctr">
            <a:spAutoFit/>
          </a:bodyPr>
          <a:lstStyle/>
          <a:p>
            <a:pPr algn="l"/>
            <a:r>
              <a:rPr sz="2400" b="0" i="0">
                <a:solidFill>
                  <a:srgbClr val="1B2128"/>
                </a:solidFill>
                <a:latin typeface="Calibri"/>
              </a:rPr>
              <a:t>🔁</a:t>
            </a:r>
          </a:p>
        </p:txBody>
      </p:sp>
      <p:sp>
        <p:nvSpPr>
          <p:cNvPr id="19" name="TextBox 18"/>
          <p:cNvSpPr txBox="1"/>
          <p:nvPr/>
        </p:nvSpPr>
        <p:spPr>
          <a:xfrm>
            <a:off x="8503920" y="3063240"/>
            <a:ext cx="2743200" cy="365760"/>
          </a:xfrm>
          <a:prstGeom prst="rect">
            <a:avLst/>
          </a:prstGeom>
          <a:noFill/>
        </p:spPr>
        <p:txBody>
          <a:bodyPr wrap="square" lIns="45720" rIns="45720" tIns="18288" bIns="18288" anchor="t">
            <a:spAutoFit/>
          </a:bodyPr>
          <a:lstStyle/>
          <a:p>
            <a:pPr algn="l"/>
            <a:r>
              <a:rPr sz="1400" b="1" i="0">
                <a:solidFill>
                  <a:srgbClr val="1F3A5F"/>
                </a:solidFill>
                <a:latin typeface="Calibri"/>
              </a:rPr>
              <a:t>Duplicates</a:t>
            </a:r>
          </a:p>
        </p:txBody>
      </p:sp>
      <p:sp>
        <p:nvSpPr>
          <p:cNvPr id="20" name="TextBox 19"/>
          <p:cNvSpPr txBox="1"/>
          <p:nvPr/>
        </p:nvSpPr>
        <p:spPr>
          <a:xfrm>
            <a:off x="8503920" y="3383280"/>
            <a:ext cx="2743200" cy="548640"/>
          </a:xfrm>
          <a:prstGeom prst="rect">
            <a:avLst/>
          </a:prstGeom>
          <a:noFill/>
        </p:spPr>
        <p:txBody>
          <a:bodyPr wrap="square" lIns="45720" rIns="45720" tIns="18288" bIns="18288" anchor="t">
            <a:spAutoFit/>
          </a:bodyPr>
          <a:lstStyle/>
          <a:p>
            <a:pPr algn="l"/>
            <a:r>
              <a:rPr sz="1000" b="0" i="0">
                <a:solidFill>
                  <a:srgbClr val="5F6B7C"/>
                </a:solidFill>
                <a:latin typeface="Calibri"/>
              </a:rPr>
              <a:t>Two instructors mark the same class twice.</a:t>
            </a:r>
          </a:p>
        </p:txBody>
      </p:sp>
      <p:sp>
        <p:nvSpPr>
          <p:cNvPr id="21" name="Rectangle 20"/>
          <p:cNvSpPr/>
          <p:nvPr/>
        </p:nvSpPr>
        <p:spPr>
          <a:xfrm>
            <a:off x="7772400" y="4114800"/>
            <a:ext cx="4114800" cy="1005840"/>
          </a:xfrm>
          <a:prstGeom prst="rect">
            <a:avLst/>
          </a:prstGeom>
          <a:solidFill>
            <a:srgbClr val="FFFFFF"/>
          </a:solidFill>
          <a:ln>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09560" y="4251960"/>
            <a:ext cx="548640" cy="731520"/>
          </a:xfrm>
          <a:prstGeom prst="rect">
            <a:avLst/>
          </a:prstGeom>
          <a:noFill/>
        </p:spPr>
        <p:txBody>
          <a:bodyPr wrap="square" lIns="45720" rIns="45720" tIns="18288" bIns="18288" anchor="ctr">
            <a:spAutoFit/>
          </a:bodyPr>
          <a:lstStyle/>
          <a:p>
            <a:pPr algn="l"/>
            <a:r>
              <a:rPr sz="2400" b="0" i="0">
                <a:solidFill>
                  <a:srgbClr val="1B2128"/>
                </a:solidFill>
                <a:latin typeface="Calibri"/>
              </a:rPr>
              <a:t>⏳</a:t>
            </a:r>
          </a:p>
        </p:txBody>
      </p:sp>
      <p:sp>
        <p:nvSpPr>
          <p:cNvPr id="23" name="TextBox 22"/>
          <p:cNvSpPr txBox="1"/>
          <p:nvPr/>
        </p:nvSpPr>
        <p:spPr>
          <a:xfrm>
            <a:off x="8503920" y="4206240"/>
            <a:ext cx="2743200" cy="365760"/>
          </a:xfrm>
          <a:prstGeom prst="rect">
            <a:avLst/>
          </a:prstGeom>
          <a:noFill/>
        </p:spPr>
        <p:txBody>
          <a:bodyPr wrap="square" lIns="45720" rIns="45720" tIns="18288" bIns="18288" anchor="t">
            <a:spAutoFit/>
          </a:bodyPr>
          <a:lstStyle/>
          <a:p>
            <a:pPr algn="l"/>
            <a:r>
              <a:rPr sz="1400" b="1" i="0">
                <a:solidFill>
                  <a:srgbClr val="1F3A5F"/>
                </a:solidFill>
                <a:latin typeface="Calibri"/>
              </a:rPr>
              <a:t>Slow reports</a:t>
            </a:r>
          </a:p>
        </p:txBody>
      </p:sp>
      <p:sp>
        <p:nvSpPr>
          <p:cNvPr id="24" name="TextBox 23"/>
          <p:cNvSpPr txBox="1"/>
          <p:nvPr/>
        </p:nvSpPr>
        <p:spPr>
          <a:xfrm>
            <a:off x="8503920" y="4526280"/>
            <a:ext cx="2743200" cy="548640"/>
          </a:xfrm>
          <a:prstGeom prst="rect">
            <a:avLst/>
          </a:prstGeom>
          <a:noFill/>
        </p:spPr>
        <p:txBody>
          <a:bodyPr wrap="square" lIns="45720" rIns="45720" tIns="18288" bIns="18288" anchor="t">
            <a:spAutoFit/>
          </a:bodyPr>
          <a:lstStyle/>
          <a:p>
            <a:pPr algn="l"/>
            <a:r>
              <a:rPr sz="1000" b="0" i="0">
                <a:solidFill>
                  <a:srgbClr val="5F6B7C"/>
                </a:solidFill>
                <a:latin typeface="Calibri"/>
              </a:rPr>
              <a:t>End-of-semester totals are counted by hand.</a:t>
            </a:r>
          </a:p>
        </p:txBody>
      </p:sp>
      <p:sp>
        <p:nvSpPr>
          <p:cNvPr id="25" name="Rectangle 24"/>
          <p:cNvSpPr/>
          <p:nvPr/>
        </p:nvSpPr>
        <p:spPr>
          <a:xfrm>
            <a:off x="7772400" y="5257800"/>
            <a:ext cx="4114800" cy="1005840"/>
          </a:xfrm>
          <a:prstGeom prst="rect">
            <a:avLst/>
          </a:prstGeom>
          <a:solidFill>
            <a:srgbClr val="FFFFFF"/>
          </a:solidFill>
          <a:ln>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09560" y="5394960"/>
            <a:ext cx="548640" cy="731520"/>
          </a:xfrm>
          <a:prstGeom prst="rect">
            <a:avLst/>
          </a:prstGeom>
          <a:noFill/>
        </p:spPr>
        <p:txBody>
          <a:bodyPr wrap="square" lIns="45720" rIns="45720" tIns="18288" bIns="18288" anchor="ctr">
            <a:spAutoFit/>
          </a:bodyPr>
          <a:lstStyle/>
          <a:p>
            <a:pPr algn="l"/>
            <a:r>
              <a:rPr sz="2400" b="0" i="0">
                <a:solidFill>
                  <a:srgbClr val="1B2128"/>
                </a:solidFill>
                <a:latin typeface="Calibri"/>
              </a:rPr>
              <a:t>📂</a:t>
            </a:r>
          </a:p>
        </p:txBody>
      </p:sp>
      <p:sp>
        <p:nvSpPr>
          <p:cNvPr id="27" name="TextBox 26"/>
          <p:cNvSpPr txBox="1"/>
          <p:nvPr/>
        </p:nvSpPr>
        <p:spPr>
          <a:xfrm>
            <a:off x="8503920" y="5349240"/>
            <a:ext cx="2743200" cy="365760"/>
          </a:xfrm>
          <a:prstGeom prst="rect">
            <a:avLst/>
          </a:prstGeom>
          <a:noFill/>
        </p:spPr>
        <p:txBody>
          <a:bodyPr wrap="square" lIns="45720" rIns="45720" tIns="18288" bIns="18288" anchor="t">
            <a:spAutoFit/>
          </a:bodyPr>
          <a:lstStyle/>
          <a:p>
            <a:pPr algn="l"/>
            <a:r>
              <a:rPr sz="1400" b="1" i="0">
                <a:solidFill>
                  <a:srgbClr val="1F3A5F"/>
                </a:solidFill>
                <a:latin typeface="Calibri"/>
              </a:rPr>
              <a:t>No backup</a:t>
            </a:r>
          </a:p>
        </p:txBody>
      </p:sp>
      <p:sp>
        <p:nvSpPr>
          <p:cNvPr id="28" name="TextBox 27"/>
          <p:cNvSpPr txBox="1"/>
          <p:nvPr/>
        </p:nvSpPr>
        <p:spPr>
          <a:xfrm>
            <a:off x="8503920" y="5669280"/>
            <a:ext cx="2743200" cy="548640"/>
          </a:xfrm>
          <a:prstGeom prst="rect">
            <a:avLst/>
          </a:prstGeom>
          <a:noFill/>
        </p:spPr>
        <p:txBody>
          <a:bodyPr wrap="square" lIns="45720" rIns="45720" tIns="18288" bIns="18288" anchor="t">
            <a:spAutoFit/>
          </a:bodyPr>
          <a:lstStyle/>
          <a:p>
            <a:pPr algn="l"/>
            <a:r>
              <a:rPr sz="1000" b="0" i="0">
                <a:solidFill>
                  <a:srgbClr val="5F6B7C"/>
                </a:solidFill>
                <a:latin typeface="Calibri"/>
              </a:rPr>
              <a:t>Excel files live on one laptop with no copies.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9144000" cy="548640"/>
          </a:xfrm>
          <a:prstGeom prst="rect">
            <a:avLst/>
          </a:prstGeom>
          <a:noFill/>
        </p:spPr>
        <p:txBody>
          <a:bodyPr wrap="square" lIns="45720" rIns="45720" tIns="18288" bIns="18288" anchor="ctr">
            <a:spAutoFit/>
          </a:bodyPr>
          <a:lstStyle/>
          <a:p>
            <a:pPr algn="l"/>
            <a:r>
              <a:rPr sz="2800" b="1" i="0">
                <a:solidFill>
                  <a:srgbClr val="FFFFFF"/>
                </a:solidFill>
                <a:latin typeface="Calibri"/>
              </a:rPr>
              <a:t>What We Built</a:t>
            </a:r>
          </a:p>
        </p:txBody>
      </p:sp>
      <p:sp>
        <p:nvSpPr>
          <p:cNvPr id="6" name="TextBox 5"/>
          <p:cNvSpPr txBox="1"/>
          <p:nvPr/>
        </p:nvSpPr>
        <p:spPr>
          <a:xfrm>
            <a:off x="457200" y="502920"/>
            <a:ext cx="9144000" cy="365760"/>
          </a:xfrm>
          <a:prstGeom prst="rect">
            <a:avLst/>
          </a:prstGeom>
          <a:noFill/>
        </p:spPr>
        <p:txBody>
          <a:bodyPr wrap="square" lIns="45720" rIns="45720" tIns="18288" bIns="18288" anchor="t">
            <a:spAutoFit/>
          </a:bodyPr>
          <a:lstStyle/>
          <a:p>
            <a:pPr algn="l"/>
            <a:r>
              <a:rPr sz="1200" b="0" i="1">
                <a:solidFill>
                  <a:srgbClr val="9BD1FF"/>
                </a:solidFill>
                <a:latin typeface="Calibri"/>
              </a:rPr>
              <a:t>The same system, in two languages</a:t>
            </a:r>
          </a:p>
        </p:txBody>
      </p:sp>
      <p:sp>
        <p:nvSpPr>
          <p:cNvPr id="7" name="TextBox 6"/>
          <p:cNvSpPr txBox="1"/>
          <p:nvPr/>
        </p:nvSpPr>
        <p:spPr>
          <a:xfrm>
            <a:off x="10789920" y="228600"/>
            <a:ext cx="1280160" cy="457200"/>
          </a:xfrm>
          <a:prstGeom prst="rect">
            <a:avLst/>
          </a:prstGeom>
          <a:noFill/>
        </p:spPr>
        <p:txBody>
          <a:bodyPr wrap="square" lIns="45720" rIns="45720" tIns="18288" bIns="18288" anchor="ctr">
            <a:spAutoFit/>
          </a:bodyPr>
          <a:lstStyle/>
          <a:p>
            <a:pPr algn="r"/>
            <a:r>
              <a:rPr sz="1100" b="0" i="0">
                <a:solidFill>
                  <a:srgbClr val="FFFFFF"/>
                </a:solidFill>
                <a:latin typeface="Calibri"/>
              </a:rPr>
              <a:t>CS516 · IAU</a:t>
            </a:r>
          </a:p>
        </p:txBody>
      </p:sp>
      <p:sp>
        <p:nvSpPr>
          <p:cNvPr id="8" name="TextBox 7"/>
          <p:cNvSpPr txBox="1"/>
          <p:nvPr/>
        </p:nvSpPr>
        <p:spPr>
          <a:xfrm>
            <a:off x="457200" y="1097280"/>
            <a:ext cx="11247120" cy="548640"/>
          </a:xfrm>
          <a:prstGeom prst="rect">
            <a:avLst/>
          </a:prstGeom>
          <a:noFill/>
        </p:spPr>
        <p:txBody>
          <a:bodyPr wrap="square" lIns="45720" rIns="45720" tIns="18288" bIns="18288" anchor="t">
            <a:spAutoFit/>
          </a:bodyPr>
          <a:lstStyle/>
          <a:p>
            <a:pPr algn="l"/>
            <a:r>
              <a:rPr sz="1800" b="1" i="0">
                <a:solidFill>
                  <a:srgbClr val="1F3A5F"/>
                </a:solidFill>
                <a:latin typeface="Calibri"/>
              </a:rPr>
              <a:t>One server holds the data. Two clients let you work with it.</a:t>
            </a:r>
          </a:p>
        </p:txBody>
      </p:sp>
      <p:sp>
        <p:nvSpPr>
          <p:cNvPr id="9" name="Rectangle 8"/>
          <p:cNvSpPr/>
          <p:nvPr/>
        </p:nvSpPr>
        <p:spPr>
          <a:xfrm>
            <a:off x="457200" y="1828800"/>
            <a:ext cx="5486400" cy="45720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828800"/>
            <a:ext cx="5486400" cy="4114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901952"/>
            <a:ext cx="4572000" cy="365760"/>
          </a:xfrm>
          <a:prstGeom prst="rect">
            <a:avLst/>
          </a:prstGeom>
          <a:noFill/>
        </p:spPr>
        <p:txBody>
          <a:bodyPr wrap="square" lIns="45720" rIns="45720" tIns="18288" bIns="18288" anchor="t">
            <a:spAutoFit/>
          </a:bodyPr>
          <a:lstStyle/>
          <a:p>
            <a:pPr algn="l"/>
            <a:r>
              <a:rPr sz="1400" b="1" i="0">
                <a:solidFill>
                  <a:srgbClr val="FFFFFF"/>
                </a:solidFill>
                <a:latin typeface="Calibri"/>
              </a:rPr>
              <a:t>PYTHON  ·  Tkinter GUI + SQLite</a:t>
            </a:r>
          </a:p>
        </p:txBody>
      </p:sp>
      <p:pic>
        <p:nvPicPr>
          <p:cNvPr id="12" name="Picture 11" descr="py_02_main_students.png"/>
          <p:cNvPicPr>
            <a:picLocks noChangeAspect="1"/>
          </p:cNvPicPr>
          <p:nvPr/>
        </p:nvPicPr>
        <p:blipFill>
          <a:blip r:embed="rId2"/>
          <a:stretch>
            <a:fillRect/>
          </a:stretch>
        </p:blipFill>
        <p:spPr>
          <a:xfrm>
            <a:off x="640080" y="2468880"/>
            <a:ext cx="5120640" cy="3174797"/>
          </a:xfrm>
          <a:prstGeom prst="rect">
            <a:avLst/>
          </a:prstGeom>
        </p:spPr>
      </p:pic>
      <p:sp>
        <p:nvSpPr>
          <p:cNvPr id="13" name="Rectangle 12"/>
          <p:cNvSpPr/>
          <p:nvPr/>
        </p:nvSpPr>
        <p:spPr>
          <a:xfrm>
            <a:off x="6355080" y="1828800"/>
            <a:ext cx="5486400" cy="45720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55080" y="1828800"/>
            <a:ext cx="5486400" cy="411480"/>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1901952"/>
            <a:ext cx="4572000" cy="365760"/>
          </a:xfrm>
          <a:prstGeom prst="rect">
            <a:avLst/>
          </a:prstGeom>
          <a:noFill/>
        </p:spPr>
        <p:txBody>
          <a:bodyPr wrap="square" lIns="45720" rIns="45720" tIns="18288" bIns="18288" anchor="t">
            <a:spAutoFit/>
          </a:bodyPr>
          <a:lstStyle/>
          <a:p>
            <a:pPr algn="l"/>
            <a:r>
              <a:rPr sz="1400" b="1" i="0">
                <a:solidFill>
                  <a:srgbClr val="FFFFFF"/>
                </a:solidFill>
                <a:latin typeface="Calibri"/>
              </a:rPr>
              <a:t>C++  ·  OOP console + flat files</a:t>
            </a:r>
          </a:p>
        </p:txBody>
      </p:sp>
      <p:pic>
        <p:nvPicPr>
          <p:cNvPr id="16" name="Picture 15" descr="cpp_03_students_view_all.png"/>
          <p:cNvPicPr>
            <a:picLocks noChangeAspect="1"/>
          </p:cNvPicPr>
          <p:nvPr/>
        </p:nvPicPr>
        <p:blipFill>
          <a:blip r:embed="rId3"/>
          <a:stretch>
            <a:fillRect/>
          </a:stretch>
        </p:blipFill>
        <p:spPr>
          <a:xfrm>
            <a:off x="6537960" y="2468880"/>
            <a:ext cx="5120640" cy="2672724"/>
          </a:xfrm>
          <a:prstGeom prst="rect">
            <a:avLst/>
          </a:prstGeom>
        </p:spPr>
      </p:pic>
      <p:sp>
        <p:nvSpPr>
          <p:cNvPr id="17" name="TextBox 16"/>
          <p:cNvSpPr txBox="1"/>
          <p:nvPr/>
        </p:nvSpPr>
        <p:spPr>
          <a:xfrm>
            <a:off x="457200" y="6492240"/>
            <a:ext cx="10972800" cy="274320"/>
          </a:xfrm>
          <a:prstGeom prst="rect">
            <a:avLst/>
          </a:prstGeom>
          <a:noFill/>
        </p:spPr>
        <p:txBody>
          <a:bodyPr wrap="square" lIns="45720" rIns="45720" tIns="18288" bIns="18288" anchor="t">
            <a:spAutoFit/>
          </a:bodyPr>
          <a:lstStyle/>
          <a:p>
            <a:pPr algn="ctr"/>
            <a:r>
              <a:rPr sz="1100" b="0" i="1">
                <a:solidFill>
                  <a:srgbClr val="5F6B7C"/>
                </a:solidFill>
                <a:latin typeface="Calibri"/>
              </a:rPr>
              <a:t>Both clients speak the same protocol — they could even share the server.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9144000" cy="548640"/>
          </a:xfrm>
          <a:prstGeom prst="rect">
            <a:avLst/>
          </a:prstGeom>
          <a:noFill/>
        </p:spPr>
        <p:txBody>
          <a:bodyPr wrap="square" lIns="45720" rIns="45720" tIns="18288" bIns="18288" anchor="ctr">
            <a:spAutoFit/>
          </a:bodyPr>
          <a:lstStyle/>
          <a:p>
            <a:pPr algn="l"/>
            <a:r>
              <a:rPr sz="2800" b="1" i="0">
                <a:solidFill>
                  <a:srgbClr val="FFFFFF"/>
                </a:solidFill>
                <a:latin typeface="Calibri"/>
              </a:rPr>
              <a:t>Features</a:t>
            </a:r>
          </a:p>
        </p:txBody>
      </p:sp>
      <p:sp>
        <p:nvSpPr>
          <p:cNvPr id="6" name="TextBox 5"/>
          <p:cNvSpPr txBox="1"/>
          <p:nvPr/>
        </p:nvSpPr>
        <p:spPr>
          <a:xfrm>
            <a:off x="457200" y="502920"/>
            <a:ext cx="9144000" cy="365760"/>
          </a:xfrm>
          <a:prstGeom prst="rect">
            <a:avLst/>
          </a:prstGeom>
          <a:noFill/>
        </p:spPr>
        <p:txBody>
          <a:bodyPr wrap="square" lIns="45720" rIns="45720" tIns="18288" bIns="18288" anchor="t">
            <a:spAutoFit/>
          </a:bodyPr>
          <a:lstStyle/>
          <a:p>
            <a:pPr algn="l"/>
            <a:r>
              <a:rPr sz="1200" b="0" i="1">
                <a:solidFill>
                  <a:srgbClr val="9BD1FF"/>
                </a:solidFill>
                <a:latin typeface="Calibri"/>
              </a:rPr>
              <a:t>Everything Smart SMS does</a:t>
            </a:r>
          </a:p>
        </p:txBody>
      </p:sp>
      <p:sp>
        <p:nvSpPr>
          <p:cNvPr id="7" name="TextBox 6"/>
          <p:cNvSpPr txBox="1"/>
          <p:nvPr/>
        </p:nvSpPr>
        <p:spPr>
          <a:xfrm>
            <a:off x="10789920" y="228600"/>
            <a:ext cx="1280160" cy="457200"/>
          </a:xfrm>
          <a:prstGeom prst="rect">
            <a:avLst/>
          </a:prstGeom>
          <a:noFill/>
        </p:spPr>
        <p:txBody>
          <a:bodyPr wrap="square" lIns="45720" rIns="45720" tIns="18288" bIns="18288" anchor="ctr">
            <a:spAutoFit/>
          </a:bodyPr>
          <a:lstStyle/>
          <a:p>
            <a:pPr algn="r"/>
            <a:r>
              <a:rPr sz="1100" b="0" i="0">
                <a:solidFill>
                  <a:srgbClr val="FFFFFF"/>
                </a:solidFill>
                <a:latin typeface="Calibri"/>
              </a:rPr>
              <a:t>CS516 · IAU</a:t>
            </a:r>
          </a:p>
        </p:txBody>
      </p:sp>
      <p:sp>
        <p:nvSpPr>
          <p:cNvPr id="8" name="Rectangle 7"/>
          <p:cNvSpPr/>
          <p:nvPr/>
        </p:nvSpPr>
        <p:spPr>
          <a:xfrm>
            <a:off x="457200" y="1280160"/>
            <a:ext cx="2377440" cy="18288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280160"/>
            <a:ext cx="2377440" cy="164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640080" cy="640080"/>
          </a:xfrm>
          <a:prstGeom prst="rect">
            <a:avLst/>
          </a:prstGeom>
          <a:noFill/>
        </p:spPr>
        <p:txBody>
          <a:bodyPr wrap="square" lIns="45720" rIns="45720" tIns="18288" bIns="18288" anchor="ctr">
            <a:spAutoFit/>
          </a:bodyPr>
          <a:lstStyle/>
          <a:p>
            <a:pPr algn="ctr"/>
            <a:r>
              <a:rPr sz="3200" b="0" i="0">
                <a:solidFill>
                  <a:srgbClr val="1B2128"/>
                </a:solidFill>
                <a:latin typeface="Calibri"/>
              </a:rPr>
              <a:t>🔐</a:t>
            </a:r>
          </a:p>
        </p:txBody>
      </p:sp>
      <p:sp>
        <p:nvSpPr>
          <p:cNvPr id="11" name="TextBox 10"/>
          <p:cNvSpPr txBox="1"/>
          <p:nvPr/>
        </p:nvSpPr>
        <p:spPr>
          <a:xfrm>
            <a:off x="1234440" y="1554480"/>
            <a:ext cx="1463040" cy="457200"/>
          </a:xfrm>
          <a:prstGeom prst="rect">
            <a:avLst/>
          </a:prstGeom>
          <a:noFill/>
        </p:spPr>
        <p:txBody>
          <a:bodyPr wrap="square" lIns="45720" rIns="45720" tIns="18288" bIns="18288" anchor="t">
            <a:spAutoFit/>
          </a:bodyPr>
          <a:lstStyle/>
          <a:p>
            <a:pPr algn="l"/>
            <a:r>
              <a:rPr sz="1400" b="1" i="0">
                <a:solidFill>
                  <a:srgbClr val="1F3A5F"/>
                </a:solidFill>
                <a:latin typeface="Calibri"/>
              </a:rPr>
              <a:t>Role-based Login</a:t>
            </a:r>
          </a:p>
        </p:txBody>
      </p:sp>
      <p:sp>
        <p:nvSpPr>
          <p:cNvPr id="12" name="TextBox 11"/>
          <p:cNvSpPr txBox="1"/>
          <p:nvPr/>
        </p:nvSpPr>
        <p:spPr>
          <a:xfrm>
            <a:off x="640080" y="2148840"/>
            <a:ext cx="2011680" cy="822960"/>
          </a:xfrm>
          <a:prstGeom prst="rect">
            <a:avLst/>
          </a:prstGeom>
          <a:noFill/>
        </p:spPr>
        <p:txBody>
          <a:bodyPr wrap="square" lIns="45720" rIns="45720" tIns="18288" bIns="18288" anchor="t">
            <a:spAutoFit/>
          </a:bodyPr>
          <a:lstStyle/>
          <a:p>
            <a:pPr algn="l"/>
            <a:r>
              <a:rPr sz="1000" b="0" i="0">
                <a:solidFill>
                  <a:srgbClr val="5F6B7C"/>
                </a:solidFill>
                <a:latin typeface="Calibri"/>
              </a:rPr>
              <a:t>Admin sees everything; instructor sees what they teach.</a:t>
            </a:r>
          </a:p>
        </p:txBody>
      </p:sp>
      <p:sp>
        <p:nvSpPr>
          <p:cNvPr id="13" name="Rectangle 12"/>
          <p:cNvSpPr/>
          <p:nvPr/>
        </p:nvSpPr>
        <p:spPr>
          <a:xfrm>
            <a:off x="2971800" y="1280160"/>
            <a:ext cx="2377440" cy="18288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71800" y="1280160"/>
            <a:ext cx="2377440" cy="164592"/>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08960" y="1508760"/>
            <a:ext cx="640080" cy="640080"/>
          </a:xfrm>
          <a:prstGeom prst="rect">
            <a:avLst/>
          </a:prstGeom>
          <a:noFill/>
        </p:spPr>
        <p:txBody>
          <a:bodyPr wrap="square" lIns="45720" rIns="45720" tIns="18288" bIns="18288" anchor="ctr">
            <a:spAutoFit/>
          </a:bodyPr>
          <a:lstStyle/>
          <a:p>
            <a:pPr algn="ctr"/>
            <a:r>
              <a:rPr sz="3200" b="0" i="0">
                <a:solidFill>
                  <a:srgbClr val="1B2128"/>
                </a:solidFill>
                <a:latin typeface="Calibri"/>
              </a:rPr>
              <a:t>👤</a:t>
            </a:r>
          </a:p>
        </p:txBody>
      </p:sp>
      <p:sp>
        <p:nvSpPr>
          <p:cNvPr id="16" name="TextBox 15"/>
          <p:cNvSpPr txBox="1"/>
          <p:nvPr/>
        </p:nvSpPr>
        <p:spPr>
          <a:xfrm>
            <a:off x="3749040" y="1554480"/>
            <a:ext cx="1463040" cy="457200"/>
          </a:xfrm>
          <a:prstGeom prst="rect">
            <a:avLst/>
          </a:prstGeom>
          <a:noFill/>
        </p:spPr>
        <p:txBody>
          <a:bodyPr wrap="square" lIns="45720" rIns="45720" tIns="18288" bIns="18288" anchor="t">
            <a:spAutoFit/>
          </a:bodyPr>
          <a:lstStyle/>
          <a:p>
            <a:pPr algn="l"/>
            <a:r>
              <a:rPr sz="1400" b="1" i="0">
                <a:solidFill>
                  <a:srgbClr val="1F3A5F"/>
                </a:solidFill>
                <a:latin typeface="Calibri"/>
              </a:rPr>
              <a:t>Students CRUD</a:t>
            </a:r>
          </a:p>
        </p:txBody>
      </p:sp>
      <p:sp>
        <p:nvSpPr>
          <p:cNvPr id="17" name="TextBox 16"/>
          <p:cNvSpPr txBox="1"/>
          <p:nvPr/>
        </p:nvSpPr>
        <p:spPr>
          <a:xfrm>
            <a:off x="3154680" y="2148840"/>
            <a:ext cx="2011680" cy="822960"/>
          </a:xfrm>
          <a:prstGeom prst="rect">
            <a:avLst/>
          </a:prstGeom>
          <a:noFill/>
        </p:spPr>
        <p:txBody>
          <a:bodyPr wrap="square" lIns="45720" rIns="45720" tIns="18288" bIns="18288" anchor="t">
            <a:spAutoFit/>
          </a:bodyPr>
          <a:lstStyle/>
          <a:p>
            <a:pPr algn="l"/>
            <a:r>
              <a:rPr sz="1000" b="0" i="0">
                <a:solidFill>
                  <a:srgbClr val="5F6B7C"/>
                </a:solidFill>
                <a:latin typeface="Calibri"/>
              </a:rPr>
              <a:t>Add, update, delete, search — full lifecycle.</a:t>
            </a:r>
          </a:p>
        </p:txBody>
      </p:sp>
      <p:sp>
        <p:nvSpPr>
          <p:cNvPr id="18" name="Rectangle 17"/>
          <p:cNvSpPr/>
          <p:nvPr/>
        </p:nvSpPr>
        <p:spPr>
          <a:xfrm>
            <a:off x="5486400" y="1280160"/>
            <a:ext cx="2377440" cy="18288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0" y="1280160"/>
            <a:ext cx="2377440" cy="164592"/>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23560" y="1508760"/>
            <a:ext cx="640080" cy="640080"/>
          </a:xfrm>
          <a:prstGeom prst="rect">
            <a:avLst/>
          </a:prstGeom>
          <a:noFill/>
        </p:spPr>
        <p:txBody>
          <a:bodyPr wrap="square" lIns="45720" rIns="45720" tIns="18288" bIns="18288" anchor="ctr">
            <a:spAutoFit/>
          </a:bodyPr>
          <a:lstStyle/>
          <a:p>
            <a:pPr algn="ctr"/>
            <a:r>
              <a:rPr sz="3200" b="0" i="0">
                <a:solidFill>
                  <a:srgbClr val="1B2128"/>
                </a:solidFill>
                <a:latin typeface="Calibri"/>
              </a:rPr>
              <a:t>📚</a:t>
            </a:r>
          </a:p>
        </p:txBody>
      </p:sp>
      <p:sp>
        <p:nvSpPr>
          <p:cNvPr id="21" name="TextBox 20"/>
          <p:cNvSpPr txBox="1"/>
          <p:nvPr/>
        </p:nvSpPr>
        <p:spPr>
          <a:xfrm>
            <a:off x="6263640" y="1554480"/>
            <a:ext cx="1463040" cy="457200"/>
          </a:xfrm>
          <a:prstGeom prst="rect">
            <a:avLst/>
          </a:prstGeom>
          <a:noFill/>
        </p:spPr>
        <p:txBody>
          <a:bodyPr wrap="square" lIns="45720" rIns="45720" tIns="18288" bIns="18288" anchor="t">
            <a:spAutoFit/>
          </a:bodyPr>
          <a:lstStyle/>
          <a:p>
            <a:pPr algn="l"/>
            <a:r>
              <a:rPr sz="1400" b="1" i="0">
                <a:solidFill>
                  <a:srgbClr val="1F3A5F"/>
                </a:solidFill>
                <a:latin typeface="Calibri"/>
              </a:rPr>
              <a:t>Courses CRUD</a:t>
            </a:r>
          </a:p>
        </p:txBody>
      </p:sp>
      <p:sp>
        <p:nvSpPr>
          <p:cNvPr id="22" name="TextBox 21"/>
          <p:cNvSpPr txBox="1"/>
          <p:nvPr/>
        </p:nvSpPr>
        <p:spPr>
          <a:xfrm>
            <a:off x="5669280" y="2148840"/>
            <a:ext cx="2011680" cy="822960"/>
          </a:xfrm>
          <a:prstGeom prst="rect">
            <a:avLst/>
          </a:prstGeom>
          <a:noFill/>
        </p:spPr>
        <p:txBody>
          <a:bodyPr wrap="square" lIns="45720" rIns="45720" tIns="18288" bIns="18288" anchor="t">
            <a:spAutoFit/>
          </a:bodyPr>
          <a:lstStyle/>
          <a:p>
            <a:pPr algn="l"/>
            <a:r>
              <a:rPr sz="1000" b="0" i="0">
                <a:solidFill>
                  <a:srgbClr val="5F6B7C"/>
                </a:solidFill>
                <a:latin typeface="Calibri"/>
              </a:rPr>
              <a:t>Same surface for courses with code as primary key.</a:t>
            </a:r>
          </a:p>
        </p:txBody>
      </p:sp>
      <p:sp>
        <p:nvSpPr>
          <p:cNvPr id="23" name="Rectangle 22"/>
          <p:cNvSpPr/>
          <p:nvPr/>
        </p:nvSpPr>
        <p:spPr>
          <a:xfrm>
            <a:off x="457200" y="3246120"/>
            <a:ext cx="2377440" cy="18288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3246120"/>
            <a:ext cx="2377440" cy="164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3474720"/>
            <a:ext cx="640080" cy="640080"/>
          </a:xfrm>
          <a:prstGeom prst="rect">
            <a:avLst/>
          </a:prstGeom>
          <a:noFill/>
        </p:spPr>
        <p:txBody>
          <a:bodyPr wrap="square" lIns="45720" rIns="45720" tIns="18288" bIns="18288" anchor="ctr">
            <a:spAutoFit/>
          </a:bodyPr>
          <a:lstStyle/>
          <a:p>
            <a:pPr algn="ctr"/>
            <a:r>
              <a:rPr sz="3200" b="0" i="0">
                <a:solidFill>
                  <a:srgbClr val="1B2128"/>
                </a:solidFill>
                <a:latin typeface="Calibri"/>
              </a:rPr>
              <a:t>📝</a:t>
            </a:r>
          </a:p>
        </p:txBody>
      </p:sp>
      <p:sp>
        <p:nvSpPr>
          <p:cNvPr id="26" name="TextBox 25"/>
          <p:cNvSpPr txBox="1"/>
          <p:nvPr/>
        </p:nvSpPr>
        <p:spPr>
          <a:xfrm>
            <a:off x="1234440" y="3520440"/>
            <a:ext cx="1463040" cy="457200"/>
          </a:xfrm>
          <a:prstGeom prst="rect">
            <a:avLst/>
          </a:prstGeom>
          <a:noFill/>
        </p:spPr>
        <p:txBody>
          <a:bodyPr wrap="square" lIns="45720" rIns="45720" tIns="18288" bIns="18288" anchor="t">
            <a:spAutoFit/>
          </a:bodyPr>
          <a:lstStyle/>
          <a:p>
            <a:pPr algn="l"/>
            <a:r>
              <a:rPr sz="1400" b="1" i="0">
                <a:solidFill>
                  <a:srgbClr val="1F3A5F"/>
                </a:solidFill>
                <a:latin typeface="Calibri"/>
              </a:rPr>
              <a:t>Enrollment</a:t>
            </a:r>
          </a:p>
        </p:txBody>
      </p:sp>
      <p:sp>
        <p:nvSpPr>
          <p:cNvPr id="27" name="TextBox 26"/>
          <p:cNvSpPr txBox="1"/>
          <p:nvPr/>
        </p:nvSpPr>
        <p:spPr>
          <a:xfrm>
            <a:off x="640080" y="4114800"/>
            <a:ext cx="2011680" cy="822960"/>
          </a:xfrm>
          <a:prstGeom prst="rect">
            <a:avLst/>
          </a:prstGeom>
          <a:noFill/>
        </p:spPr>
        <p:txBody>
          <a:bodyPr wrap="square" lIns="45720" rIns="45720" tIns="18288" bIns="18288" anchor="t">
            <a:spAutoFit/>
          </a:bodyPr>
          <a:lstStyle/>
          <a:p>
            <a:pPr algn="l"/>
            <a:r>
              <a:rPr sz="1000" b="0" i="0">
                <a:solidFill>
                  <a:srgbClr val="5F6B7C"/>
                </a:solidFill>
                <a:latin typeface="Calibri"/>
              </a:rPr>
              <a:t>Per-semester enrollment with duplicate protection.</a:t>
            </a:r>
          </a:p>
        </p:txBody>
      </p:sp>
      <p:sp>
        <p:nvSpPr>
          <p:cNvPr id="28" name="Rectangle 27"/>
          <p:cNvSpPr/>
          <p:nvPr/>
        </p:nvSpPr>
        <p:spPr>
          <a:xfrm>
            <a:off x="2971800" y="3246120"/>
            <a:ext cx="2377440" cy="18288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71800" y="3246120"/>
            <a:ext cx="2377440" cy="164592"/>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08960" y="3474720"/>
            <a:ext cx="640080" cy="640080"/>
          </a:xfrm>
          <a:prstGeom prst="rect">
            <a:avLst/>
          </a:prstGeom>
          <a:noFill/>
        </p:spPr>
        <p:txBody>
          <a:bodyPr wrap="square" lIns="45720" rIns="45720" tIns="18288" bIns="18288" anchor="ctr">
            <a:spAutoFit/>
          </a:bodyPr>
          <a:lstStyle/>
          <a:p>
            <a:pPr algn="ctr"/>
            <a:r>
              <a:rPr sz="3200" b="0" i="0">
                <a:solidFill>
                  <a:srgbClr val="1B2128"/>
                </a:solidFill>
                <a:latin typeface="Calibri"/>
              </a:rPr>
              <a:t>✅</a:t>
            </a:r>
          </a:p>
        </p:txBody>
      </p:sp>
      <p:sp>
        <p:nvSpPr>
          <p:cNvPr id="31" name="TextBox 30"/>
          <p:cNvSpPr txBox="1"/>
          <p:nvPr/>
        </p:nvSpPr>
        <p:spPr>
          <a:xfrm>
            <a:off x="3749040" y="3520440"/>
            <a:ext cx="1463040" cy="457200"/>
          </a:xfrm>
          <a:prstGeom prst="rect">
            <a:avLst/>
          </a:prstGeom>
          <a:noFill/>
        </p:spPr>
        <p:txBody>
          <a:bodyPr wrap="square" lIns="45720" rIns="45720" tIns="18288" bIns="18288" anchor="t">
            <a:spAutoFit/>
          </a:bodyPr>
          <a:lstStyle/>
          <a:p>
            <a:pPr algn="l"/>
            <a:r>
              <a:rPr sz="1400" b="1" i="0">
                <a:solidFill>
                  <a:srgbClr val="1F3A5F"/>
                </a:solidFill>
                <a:latin typeface="Calibri"/>
              </a:rPr>
              <a:t>Attendance</a:t>
            </a:r>
          </a:p>
        </p:txBody>
      </p:sp>
      <p:sp>
        <p:nvSpPr>
          <p:cNvPr id="32" name="TextBox 31"/>
          <p:cNvSpPr txBox="1"/>
          <p:nvPr/>
        </p:nvSpPr>
        <p:spPr>
          <a:xfrm>
            <a:off x="3154680" y="4114800"/>
            <a:ext cx="2011680" cy="822960"/>
          </a:xfrm>
          <a:prstGeom prst="rect">
            <a:avLst/>
          </a:prstGeom>
          <a:noFill/>
        </p:spPr>
        <p:txBody>
          <a:bodyPr wrap="square" lIns="45720" rIns="45720" tIns="18288" bIns="18288" anchor="t">
            <a:spAutoFit/>
          </a:bodyPr>
          <a:lstStyle/>
          <a:p>
            <a:pPr algn="l"/>
            <a:r>
              <a:rPr sz="1000" b="0" i="0">
                <a:solidFill>
                  <a:srgbClr val="5F6B7C"/>
                </a:solidFill>
                <a:latin typeface="Calibri"/>
              </a:rPr>
              <a:t>Mark Present/Absent, validated against enrollment.</a:t>
            </a:r>
          </a:p>
        </p:txBody>
      </p:sp>
      <p:sp>
        <p:nvSpPr>
          <p:cNvPr id="33" name="Rectangle 32"/>
          <p:cNvSpPr/>
          <p:nvPr/>
        </p:nvSpPr>
        <p:spPr>
          <a:xfrm>
            <a:off x="5486400" y="3246120"/>
            <a:ext cx="2377440" cy="182880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0" y="3246120"/>
            <a:ext cx="2377440" cy="164592"/>
          </a:xfrm>
          <a:prstGeom prst="rect">
            <a:avLst/>
          </a:prstGeom>
          <a:solidFill>
            <a:srgbClr val="CF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23560" y="3474720"/>
            <a:ext cx="640080" cy="640080"/>
          </a:xfrm>
          <a:prstGeom prst="rect">
            <a:avLst/>
          </a:prstGeom>
          <a:noFill/>
        </p:spPr>
        <p:txBody>
          <a:bodyPr wrap="square" lIns="45720" rIns="45720" tIns="18288" bIns="18288" anchor="ctr">
            <a:spAutoFit/>
          </a:bodyPr>
          <a:lstStyle/>
          <a:p>
            <a:pPr algn="ctr"/>
            <a:r>
              <a:rPr sz="3200" b="0" i="0">
                <a:solidFill>
                  <a:srgbClr val="1B2128"/>
                </a:solidFill>
                <a:latin typeface="Calibri"/>
              </a:rPr>
              <a:t>📊</a:t>
            </a:r>
          </a:p>
        </p:txBody>
      </p:sp>
      <p:sp>
        <p:nvSpPr>
          <p:cNvPr id="36" name="TextBox 35"/>
          <p:cNvSpPr txBox="1"/>
          <p:nvPr/>
        </p:nvSpPr>
        <p:spPr>
          <a:xfrm>
            <a:off x="6263640" y="3520440"/>
            <a:ext cx="1463040" cy="457200"/>
          </a:xfrm>
          <a:prstGeom prst="rect">
            <a:avLst/>
          </a:prstGeom>
          <a:noFill/>
        </p:spPr>
        <p:txBody>
          <a:bodyPr wrap="square" lIns="45720" rIns="45720" tIns="18288" bIns="18288" anchor="t">
            <a:spAutoFit/>
          </a:bodyPr>
          <a:lstStyle/>
          <a:p>
            <a:pPr algn="l"/>
            <a:r>
              <a:rPr sz="1400" b="1" i="0">
                <a:solidFill>
                  <a:srgbClr val="1F3A5F"/>
                </a:solidFill>
                <a:latin typeface="Calibri"/>
              </a:rPr>
              <a:t>Summary Reports</a:t>
            </a:r>
          </a:p>
        </p:txBody>
      </p:sp>
      <p:sp>
        <p:nvSpPr>
          <p:cNvPr id="37" name="TextBox 36"/>
          <p:cNvSpPr txBox="1"/>
          <p:nvPr/>
        </p:nvSpPr>
        <p:spPr>
          <a:xfrm>
            <a:off x="5669280" y="4114800"/>
            <a:ext cx="2011680" cy="822960"/>
          </a:xfrm>
          <a:prstGeom prst="rect">
            <a:avLst/>
          </a:prstGeom>
          <a:noFill/>
        </p:spPr>
        <p:txBody>
          <a:bodyPr wrap="square" lIns="45720" rIns="45720" tIns="18288" bIns="18288" anchor="t">
            <a:spAutoFit/>
          </a:bodyPr>
          <a:lstStyle/>
          <a:p>
            <a:pPr algn="l"/>
            <a:r>
              <a:rPr sz="1000" b="0" i="0">
                <a:solidFill>
                  <a:srgbClr val="5F6B7C"/>
                </a:solidFill>
                <a:latin typeface="Calibri"/>
              </a:rPr>
              <a:t>Per-course present/absent counts in one click.</a:t>
            </a:r>
          </a:p>
        </p:txBody>
      </p:sp>
      <p:sp>
        <p:nvSpPr>
          <p:cNvPr id="38" name="TextBox 37"/>
          <p:cNvSpPr txBox="1"/>
          <p:nvPr/>
        </p:nvSpPr>
        <p:spPr>
          <a:xfrm>
            <a:off x="8138160" y="1280160"/>
            <a:ext cx="3840480" cy="365760"/>
          </a:xfrm>
          <a:prstGeom prst="rect">
            <a:avLst/>
          </a:prstGeom>
          <a:noFill/>
        </p:spPr>
        <p:txBody>
          <a:bodyPr wrap="square" lIns="45720" rIns="45720" tIns="18288" bIns="18288" anchor="t">
            <a:spAutoFit/>
          </a:bodyPr>
          <a:lstStyle/>
          <a:p>
            <a:pPr algn="l"/>
            <a:r>
              <a:rPr sz="1100" b="1" i="0">
                <a:solidFill>
                  <a:srgbClr val="1F3A5F"/>
                </a:solidFill>
                <a:latin typeface="Calibri"/>
              </a:rPr>
              <a:t>WHAT INSTRUCTORS CARE ABOUT</a:t>
            </a:r>
          </a:p>
        </p:txBody>
      </p:sp>
      <p:pic>
        <p:nvPicPr>
          <p:cNvPr id="39" name="Picture 38" descr="py_10_attendance_summary.png"/>
          <p:cNvPicPr>
            <a:picLocks noChangeAspect="1"/>
          </p:cNvPicPr>
          <p:nvPr/>
        </p:nvPicPr>
        <p:blipFill>
          <a:blip r:embed="rId2"/>
          <a:stretch>
            <a:fillRect/>
          </a:stretch>
        </p:blipFill>
        <p:spPr>
          <a:xfrm>
            <a:off x="8138160" y="1691640"/>
            <a:ext cx="3840480" cy="2381098"/>
          </a:xfrm>
          <a:prstGeom prst="rect">
            <a:avLst/>
          </a:prstGeom>
        </p:spPr>
      </p:pic>
      <p:sp>
        <p:nvSpPr>
          <p:cNvPr id="40" name="TextBox 39"/>
          <p:cNvSpPr txBox="1"/>
          <p:nvPr/>
        </p:nvSpPr>
        <p:spPr>
          <a:xfrm>
            <a:off x="8138160" y="5120640"/>
            <a:ext cx="3840480" cy="457200"/>
          </a:xfrm>
          <a:prstGeom prst="rect">
            <a:avLst/>
          </a:prstGeom>
          <a:noFill/>
        </p:spPr>
        <p:txBody>
          <a:bodyPr wrap="square" lIns="45720" rIns="45720" tIns="18288" bIns="18288" anchor="t">
            <a:spAutoFit/>
          </a:bodyPr>
          <a:lstStyle/>
          <a:p>
            <a:pPr algn="l"/>
            <a:r>
              <a:rPr sz="1400" b="1" i="0">
                <a:solidFill>
                  <a:srgbClr val="1F3A5F"/>
                </a:solidFill>
                <a:latin typeface="Calibri"/>
              </a:rPr>
              <a:t>Per-course summary</a:t>
            </a:r>
          </a:p>
        </p:txBody>
      </p:sp>
      <p:sp>
        <p:nvSpPr>
          <p:cNvPr id="41" name="TextBox 40"/>
          <p:cNvSpPr txBox="1"/>
          <p:nvPr/>
        </p:nvSpPr>
        <p:spPr>
          <a:xfrm>
            <a:off x="8138160" y="5440680"/>
            <a:ext cx="3840480" cy="1005840"/>
          </a:xfrm>
          <a:prstGeom prst="rect">
            <a:avLst/>
          </a:prstGeom>
          <a:noFill/>
        </p:spPr>
        <p:txBody>
          <a:bodyPr wrap="square" lIns="45720" rIns="45720" tIns="18288" bIns="18288" anchor="t">
            <a:spAutoFit/>
          </a:bodyPr>
          <a:lstStyle/>
          <a:p>
            <a:pPr algn="l"/>
            <a:r>
              <a:rPr sz="1000" b="0" i="0">
                <a:solidFill>
                  <a:srgbClr val="5F6B7C"/>
                </a:solidFill>
                <a:latin typeface="Calibri"/>
              </a:rPr>
              <a:t>Counts present vs absent for every student in a course. What used to take 10 minutes of counting now takes one click.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9144000" cy="548640"/>
          </a:xfrm>
          <a:prstGeom prst="rect">
            <a:avLst/>
          </a:prstGeom>
          <a:noFill/>
        </p:spPr>
        <p:txBody>
          <a:bodyPr wrap="square" lIns="45720" rIns="45720" tIns="18288" bIns="18288" anchor="ctr">
            <a:spAutoFit/>
          </a:bodyPr>
          <a:lstStyle/>
          <a:p>
            <a:pPr algn="l"/>
            <a:r>
              <a:rPr sz="2800" b="1" i="0">
                <a:solidFill>
                  <a:srgbClr val="FFFFFF"/>
                </a:solidFill>
                <a:latin typeface="Calibri"/>
              </a:rPr>
              <a:t>Architecture</a:t>
            </a:r>
          </a:p>
        </p:txBody>
      </p:sp>
      <p:sp>
        <p:nvSpPr>
          <p:cNvPr id="6" name="TextBox 5"/>
          <p:cNvSpPr txBox="1"/>
          <p:nvPr/>
        </p:nvSpPr>
        <p:spPr>
          <a:xfrm>
            <a:off x="457200" y="502920"/>
            <a:ext cx="9144000" cy="365760"/>
          </a:xfrm>
          <a:prstGeom prst="rect">
            <a:avLst/>
          </a:prstGeom>
          <a:noFill/>
        </p:spPr>
        <p:txBody>
          <a:bodyPr wrap="square" lIns="45720" rIns="45720" tIns="18288" bIns="18288" anchor="t">
            <a:spAutoFit/>
          </a:bodyPr>
          <a:lstStyle/>
          <a:p>
            <a:pPr algn="l"/>
            <a:r>
              <a:rPr sz="1200" b="0" i="1">
                <a:solidFill>
                  <a:srgbClr val="9BD1FF"/>
                </a:solidFill>
                <a:latin typeface="Calibri"/>
              </a:rPr>
              <a:t>One server, two clients, one protocol</a:t>
            </a:r>
          </a:p>
        </p:txBody>
      </p:sp>
      <p:sp>
        <p:nvSpPr>
          <p:cNvPr id="7" name="TextBox 6"/>
          <p:cNvSpPr txBox="1"/>
          <p:nvPr/>
        </p:nvSpPr>
        <p:spPr>
          <a:xfrm>
            <a:off x="10789920" y="228600"/>
            <a:ext cx="1280160" cy="457200"/>
          </a:xfrm>
          <a:prstGeom prst="rect">
            <a:avLst/>
          </a:prstGeom>
          <a:noFill/>
        </p:spPr>
        <p:txBody>
          <a:bodyPr wrap="square" lIns="45720" rIns="45720" tIns="18288" bIns="18288" anchor="ctr">
            <a:spAutoFit/>
          </a:bodyPr>
          <a:lstStyle/>
          <a:p>
            <a:pPr algn="r"/>
            <a:r>
              <a:rPr sz="1100" b="0" i="0">
                <a:solidFill>
                  <a:srgbClr val="FFFFFF"/>
                </a:solidFill>
                <a:latin typeface="Calibri"/>
              </a:rPr>
              <a:t>CS516 · IAU</a:t>
            </a:r>
          </a:p>
        </p:txBody>
      </p:sp>
      <p:sp>
        <p:nvSpPr>
          <p:cNvPr id="8" name="Rectangle 7"/>
          <p:cNvSpPr/>
          <p:nvPr/>
        </p:nvSpPr>
        <p:spPr>
          <a:xfrm>
            <a:off x="4846320" y="2103120"/>
            <a:ext cx="2468880" cy="21945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0" y="2377440"/>
            <a:ext cx="2468880" cy="548640"/>
          </a:xfrm>
          <a:prstGeom prst="rect">
            <a:avLst/>
          </a:prstGeom>
          <a:noFill/>
        </p:spPr>
        <p:txBody>
          <a:bodyPr wrap="square" lIns="45720" rIns="45720" tIns="18288" bIns="18288" anchor="t">
            <a:spAutoFit/>
          </a:bodyPr>
          <a:lstStyle/>
          <a:p>
            <a:pPr algn="ctr"/>
            <a:r>
              <a:rPr sz="1800" b="1" i="0">
                <a:solidFill>
                  <a:srgbClr val="FFFFFF"/>
                </a:solidFill>
                <a:latin typeface="Calibri"/>
              </a:rPr>
              <a:t>SERVER</a:t>
            </a:r>
          </a:p>
        </p:txBody>
      </p:sp>
      <p:sp>
        <p:nvSpPr>
          <p:cNvPr id="10" name="TextBox 9"/>
          <p:cNvSpPr txBox="1"/>
          <p:nvPr/>
        </p:nvSpPr>
        <p:spPr>
          <a:xfrm>
            <a:off x="4846320" y="2926080"/>
            <a:ext cx="2468880" cy="548640"/>
          </a:xfrm>
          <a:prstGeom prst="rect">
            <a:avLst/>
          </a:prstGeom>
          <a:noFill/>
        </p:spPr>
        <p:txBody>
          <a:bodyPr wrap="square" lIns="45720" rIns="45720" tIns="18288" bIns="18288" anchor="ctr">
            <a:spAutoFit/>
          </a:bodyPr>
          <a:lstStyle/>
          <a:p>
            <a:pPr algn="ctr"/>
            <a:r>
              <a:rPr sz="3600" b="0" i="0">
                <a:solidFill>
                  <a:srgbClr val="1B2128"/>
                </a:solidFill>
                <a:latin typeface="Calibri"/>
              </a:rPr>
              <a:t>🖥️</a:t>
            </a:r>
          </a:p>
        </p:txBody>
      </p:sp>
      <p:sp>
        <p:nvSpPr>
          <p:cNvPr id="11" name="TextBox 10"/>
          <p:cNvSpPr txBox="1"/>
          <p:nvPr/>
        </p:nvSpPr>
        <p:spPr>
          <a:xfrm>
            <a:off x="4846320" y="3520440"/>
            <a:ext cx="2468880" cy="365760"/>
          </a:xfrm>
          <a:prstGeom prst="rect">
            <a:avLst/>
          </a:prstGeom>
          <a:noFill/>
        </p:spPr>
        <p:txBody>
          <a:bodyPr wrap="square" lIns="45720" rIns="45720" tIns="18288" bIns="18288" anchor="t">
            <a:spAutoFit/>
          </a:bodyPr>
          <a:lstStyle/>
          <a:p>
            <a:pPr algn="ctr"/>
            <a:r>
              <a:rPr sz="1100" b="1" i="0">
                <a:solidFill>
                  <a:srgbClr val="E3B341"/>
                </a:solidFill>
                <a:latin typeface="Calibri"/>
              </a:rPr>
              <a:t>Validation</a:t>
            </a:r>
          </a:p>
        </p:txBody>
      </p:sp>
      <p:sp>
        <p:nvSpPr>
          <p:cNvPr id="12" name="TextBox 11"/>
          <p:cNvSpPr txBox="1"/>
          <p:nvPr/>
        </p:nvSpPr>
        <p:spPr>
          <a:xfrm>
            <a:off x="4846320" y="3794760"/>
            <a:ext cx="2468880" cy="365760"/>
          </a:xfrm>
          <a:prstGeom prst="rect">
            <a:avLst/>
          </a:prstGeom>
          <a:noFill/>
        </p:spPr>
        <p:txBody>
          <a:bodyPr wrap="square" lIns="45720" rIns="45720" tIns="18288" bIns="18288" anchor="t">
            <a:spAutoFit/>
          </a:bodyPr>
          <a:lstStyle/>
          <a:p>
            <a:pPr algn="ctr"/>
            <a:r>
              <a:rPr sz="1100" b="1" i="0">
                <a:solidFill>
                  <a:srgbClr val="E3B341"/>
                </a:solidFill>
                <a:latin typeface="Calibri"/>
              </a:rPr>
              <a:t>Storage</a:t>
            </a:r>
          </a:p>
        </p:txBody>
      </p:sp>
      <p:sp>
        <p:nvSpPr>
          <p:cNvPr id="13" name="Rectangle 12"/>
          <p:cNvSpPr/>
          <p:nvPr/>
        </p:nvSpPr>
        <p:spPr>
          <a:xfrm>
            <a:off x="548640" y="2103120"/>
            <a:ext cx="2926080" cy="219456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103120"/>
            <a:ext cx="292608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148840"/>
            <a:ext cx="2926080" cy="320040"/>
          </a:xfrm>
          <a:prstGeom prst="rect">
            <a:avLst/>
          </a:prstGeom>
          <a:noFill/>
        </p:spPr>
        <p:txBody>
          <a:bodyPr wrap="square" lIns="45720" rIns="45720" tIns="18288" bIns="18288" anchor="t">
            <a:spAutoFit/>
          </a:bodyPr>
          <a:lstStyle/>
          <a:p>
            <a:pPr algn="ctr"/>
            <a:r>
              <a:rPr sz="1200" b="1" i="0">
                <a:solidFill>
                  <a:srgbClr val="FFFFFF"/>
                </a:solidFill>
                <a:latin typeface="Calibri"/>
              </a:rPr>
              <a:t>PYTHON CLIENT</a:t>
            </a:r>
          </a:p>
        </p:txBody>
      </p:sp>
      <p:sp>
        <p:nvSpPr>
          <p:cNvPr id="16" name="TextBox 15"/>
          <p:cNvSpPr txBox="1"/>
          <p:nvPr/>
        </p:nvSpPr>
        <p:spPr>
          <a:xfrm>
            <a:off x="548640" y="2606040"/>
            <a:ext cx="2926080" cy="457200"/>
          </a:xfrm>
          <a:prstGeom prst="rect">
            <a:avLst/>
          </a:prstGeom>
          <a:noFill/>
        </p:spPr>
        <p:txBody>
          <a:bodyPr wrap="square" lIns="45720" rIns="45720" tIns="18288" bIns="18288" anchor="t">
            <a:spAutoFit/>
          </a:bodyPr>
          <a:lstStyle/>
          <a:p>
            <a:pPr algn="ctr"/>
            <a:r>
              <a:rPr sz="3600" b="0" i="0">
                <a:solidFill>
                  <a:srgbClr val="1B2128"/>
                </a:solidFill>
                <a:latin typeface="Calibri"/>
              </a:rPr>
              <a:t>🪟</a:t>
            </a:r>
          </a:p>
        </p:txBody>
      </p:sp>
      <p:sp>
        <p:nvSpPr>
          <p:cNvPr id="17" name="TextBox 16"/>
          <p:cNvSpPr txBox="1"/>
          <p:nvPr/>
        </p:nvSpPr>
        <p:spPr>
          <a:xfrm>
            <a:off x="548640" y="3154680"/>
            <a:ext cx="2926080" cy="365760"/>
          </a:xfrm>
          <a:prstGeom prst="rect">
            <a:avLst/>
          </a:prstGeom>
          <a:noFill/>
        </p:spPr>
        <p:txBody>
          <a:bodyPr wrap="square" lIns="45720" rIns="45720" tIns="18288" bIns="18288" anchor="t">
            <a:spAutoFit/>
          </a:bodyPr>
          <a:lstStyle/>
          <a:p>
            <a:pPr algn="ctr"/>
            <a:r>
              <a:rPr sz="1300" b="1" i="0">
                <a:solidFill>
                  <a:srgbClr val="1F3A5F"/>
                </a:solidFill>
                <a:latin typeface="Calibri"/>
              </a:rPr>
              <a:t>Tkinter GUI</a:t>
            </a:r>
          </a:p>
        </p:txBody>
      </p:sp>
      <p:sp>
        <p:nvSpPr>
          <p:cNvPr id="18" name="TextBox 17"/>
          <p:cNvSpPr txBox="1"/>
          <p:nvPr/>
        </p:nvSpPr>
        <p:spPr>
          <a:xfrm>
            <a:off x="548640" y="3474720"/>
            <a:ext cx="2926080" cy="365760"/>
          </a:xfrm>
          <a:prstGeom prst="rect">
            <a:avLst/>
          </a:prstGeom>
          <a:noFill/>
        </p:spPr>
        <p:txBody>
          <a:bodyPr wrap="square" lIns="45720" rIns="45720" tIns="18288" bIns="18288" anchor="t">
            <a:spAutoFit/>
          </a:bodyPr>
          <a:lstStyle/>
          <a:p>
            <a:pPr algn="ctr"/>
            <a:r>
              <a:rPr sz="1000" b="0" i="1">
                <a:solidFill>
                  <a:srgbClr val="5F6B7C"/>
                </a:solidFill>
                <a:latin typeface="Calibri"/>
              </a:rPr>
              <a:t>JSON over TCP</a:t>
            </a:r>
          </a:p>
        </p:txBody>
      </p:sp>
      <p:sp>
        <p:nvSpPr>
          <p:cNvPr id="19" name="TextBox 18"/>
          <p:cNvSpPr txBox="1"/>
          <p:nvPr/>
        </p:nvSpPr>
        <p:spPr>
          <a:xfrm>
            <a:off x="548640" y="3794760"/>
            <a:ext cx="2926080" cy="365760"/>
          </a:xfrm>
          <a:prstGeom prst="rect">
            <a:avLst/>
          </a:prstGeom>
          <a:noFill/>
        </p:spPr>
        <p:txBody>
          <a:bodyPr wrap="square" lIns="45720" rIns="45720" tIns="18288" bIns="18288" anchor="t">
            <a:spAutoFit/>
          </a:bodyPr>
          <a:lstStyle/>
          <a:p>
            <a:pPr algn="ctr"/>
            <a:r>
              <a:rPr sz="1000" b="0" i="0">
                <a:solidFill>
                  <a:srgbClr val="5F6B7C"/>
                </a:solidFill>
                <a:latin typeface="Calibri"/>
              </a:rPr>
              <a:t>127.0.0.1 : 5055</a:t>
            </a:r>
          </a:p>
        </p:txBody>
      </p:sp>
      <p:sp>
        <p:nvSpPr>
          <p:cNvPr id="20" name="Rectangle 19"/>
          <p:cNvSpPr/>
          <p:nvPr/>
        </p:nvSpPr>
        <p:spPr>
          <a:xfrm>
            <a:off x="8686800" y="2103120"/>
            <a:ext cx="2926080" cy="219456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686800" y="2103120"/>
            <a:ext cx="2926080" cy="365760"/>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0" y="2148840"/>
            <a:ext cx="2926080" cy="320040"/>
          </a:xfrm>
          <a:prstGeom prst="rect">
            <a:avLst/>
          </a:prstGeom>
          <a:noFill/>
        </p:spPr>
        <p:txBody>
          <a:bodyPr wrap="square" lIns="45720" rIns="45720" tIns="18288" bIns="18288" anchor="t">
            <a:spAutoFit/>
          </a:bodyPr>
          <a:lstStyle/>
          <a:p>
            <a:pPr algn="ctr"/>
            <a:r>
              <a:rPr sz="1200" b="1" i="0">
                <a:solidFill>
                  <a:srgbClr val="FFFFFF"/>
                </a:solidFill>
                <a:latin typeface="Calibri"/>
              </a:rPr>
              <a:t>C++ CLIENT</a:t>
            </a:r>
          </a:p>
        </p:txBody>
      </p:sp>
      <p:sp>
        <p:nvSpPr>
          <p:cNvPr id="23" name="TextBox 22"/>
          <p:cNvSpPr txBox="1"/>
          <p:nvPr/>
        </p:nvSpPr>
        <p:spPr>
          <a:xfrm>
            <a:off x="8686800" y="2606040"/>
            <a:ext cx="2926080" cy="457200"/>
          </a:xfrm>
          <a:prstGeom prst="rect">
            <a:avLst/>
          </a:prstGeom>
          <a:noFill/>
        </p:spPr>
        <p:txBody>
          <a:bodyPr wrap="square" lIns="45720" rIns="45720" tIns="18288" bIns="18288" anchor="t">
            <a:spAutoFit/>
          </a:bodyPr>
          <a:lstStyle/>
          <a:p>
            <a:pPr algn="ctr"/>
            <a:r>
              <a:rPr sz="3600" b="0" i="0">
                <a:solidFill>
                  <a:srgbClr val="1B2128"/>
                </a:solidFill>
                <a:latin typeface="Calibri"/>
              </a:rPr>
              <a:t>💻</a:t>
            </a:r>
          </a:p>
        </p:txBody>
      </p:sp>
      <p:sp>
        <p:nvSpPr>
          <p:cNvPr id="24" name="TextBox 23"/>
          <p:cNvSpPr txBox="1"/>
          <p:nvPr/>
        </p:nvSpPr>
        <p:spPr>
          <a:xfrm>
            <a:off x="8686800" y="3154680"/>
            <a:ext cx="2926080" cy="365760"/>
          </a:xfrm>
          <a:prstGeom prst="rect">
            <a:avLst/>
          </a:prstGeom>
          <a:noFill/>
        </p:spPr>
        <p:txBody>
          <a:bodyPr wrap="square" lIns="45720" rIns="45720" tIns="18288" bIns="18288" anchor="t">
            <a:spAutoFit/>
          </a:bodyPr>
          <a:lstStyle/>
          <a:p>
            <a:pPr algn="ctr"/>
            <a:r>
              <a:rPr sz="1300" b="1" i="0">
                <a:solidFill>
                  <a:srgbClr val="1F3A5F"/>
                </a:solidFill>
                <a:latin typeface="Calibri"/>
              </a:rPr>
              <a:t>Console UI</a:t>
            </a:r>
          </a:p>
        </p:txBody>
      </p:sp>
      <p:sp>
        <p:nvSpPr>
          <p:cNvPr id="25" name="TextBox 24"/>
          <p:cNvSpPr txBox="1"/>
          <p:nvPr/>
        </p:nvSpPr>
        <p:spPr>
          <a:xfrm>
            <a:off x="8686800" y="3474720"/>
            <a:ext cx="2926080" cy="365760"/>
          </a:xfrm>
          <a:prstGeom prst="rect">
            <a:avLst/>
          </a:prstGeom>
          <a:noFill/>
        </p:spPr>
        <p:txBody>
          <a:bodyPr wrap="square" lIns="45720" rIns="45720" tIns="18288" bIns="18288" anchor="t">
            <a:spAutoFit/>
          </a:bodyPr>
          <a:lstStyle/>
          <a:p>
            <a:pPr algn="ctr"/>
            <a:r>
              <a:rPr sz="1000" b="0" i="1">
                <a:solidFill>
                  <a:srgbClr val="5F6B7C"/>
                </a:solidFill>
                <a:latin typeface="Calibri"/>
              </a:rPr>
              <a:t>ACTION|k=v over TCP</a:t>
            </a:r>
          </a:p>
        </p:txBody>
      </p:sp>
      <p:sp>
        <p:nvSpPr>
          <p:cNvPr id="26" name="TextBox 25"/>
          <p:cNvSpPr txBox="1"/>
          <p:nvPr/>
        </p:nvSpPr>
        <p:spPr>
          <a:xfrm>
            <a:off x="8686800" y="3794760"/>
            <a:ext cx="2926080" cy="365760"/>
          </a:xfrm>
          <a:prstGeom prst="rect">
            <a:avLst/>
          </a:prstGeom>
          <a:noFill/>
        </p:spPr>
        <p:txBody>
          <a:bodyPr wrap="square" lIns="45720" rIns="45720" tIns="18288" bIns="18288" anchor="t">
            <a:spAutoFit/>
          </a:bodyPr>
          <a:lstStyle/>
          <a:p>
            <a:pPr algn="ctr"/>
            <a:r>
              <a:rPr sz="1000" b="0" i="0">
                <a:solidFill>
                  <a:srgbClr val="5F6B7C"/>
                </a:solidFill>
                <a:latin typeface="Calibri"/>
              </a:rPr>
              <a:t>127.0.0.1 : 5066</a:t>
            </a:r>
          </a:p>
        </p:txBody>
      </p:sp>
      <p:cxnSp>
        <p:nvCxnSpPr>
          <p:cNvPr id="27" name="Connector 26"/>
          <p:cNvCxnSpPr/>
          <p:nvPr/>
        </p:nvCxnSpPr>
        <p:spPr>
          <a:xfrm>
            <a:off x="3474720" y="3200400"/>
            <a:ext cx="1371600" cy="0"/>
          </a:xfrm>
          <a:prstGeom prst="line">
            <a:avLst/>
          </a:prstGeom>
          <a:ln w="38100">
            <a:solidFill>
              <a:srgbClr val="1F3A5F"/>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315200" y="3200400"/>
            <a:ext cx="1371600" cy="0"/>
          </a:xfrm>
          <a:prstGeom prst="line">
            <a:avLst/>
          </a:prstGeom>
          <a:ln w="38100">
            <a:solidFill>
              <a:srgbClr val="1F3A5F"/>
            </a:solidFill>
            <a:tailEnd type="triangle" w="lg" len="lg"/>
            <a:headEnd type="triangle" w="lg" len="lg"/>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48640" y="5029200"/>
            <a:ext cx="11064240" cy="1554480"/>
          </a:xfrm>
          <a:prstGeom prst="rect">
            <a:avLst/>
          </a:prstGeom>
          <a:solidFill>
            <a:srgbClr val="F4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5120640"/>
            <a:ext cx="11064240" cy="365760"/>
          </a:xfrm>
          <a:prstGeom prst="rect">
            <a:avLst/>
          </a:prstGeom>
          <a:noFill/>
        </p:spPr>
        <p:txBody>
          <a:bodyPr wrap="square" lIns="45720" rIns="45720" tIns="18288" bIns="18288" anchor="t">
            <a:spAutoFit/>
          </a:bodyPr>
          <a:lstStyle/>
          <a:p>
            <a:pPr algn="ctr"/>
            <a:r>
              <a:rPr sz="1200" b="1" i="0">
                <a:solidFill>
                  <a:srgbClr val="1F3A5F"/>
                </a:solidFill>
                <a:latin typeface="Calibri"/>
              </a:rPr>
              <a:t>STORAGE  ·  same data model, two engines</a:t>
            </a:r>
          </a:p>
        </p:txBody>
      </p:sp>
      <p:sp>
        <p:nvSpPr>
          <p:cNvPr id="31" name="Rectangle 30"/>
          <p:cNvSpPr/>
          <p:nvPr/>
        </p:nvSpPr>
        <p:spPr>
          <a:xfrm>
            <a:off x="1371600" y="5532120"/>
            <a:ext cx="4114800" cy="914400"/>
          </a:xfrm>
          <a:prstGeom prst="rect">
            <a:avLst/>
          </a:prstGeom>
          <a:solidFill>
            <a:srgbClr val="FFFFFF"/>
          </a:solidFill>
          <a:ln>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71600" y="5623560"/>
            <a:ext cx="4114800" cy="365760"/>
          </a:xfrm>
          <a:prstGeom prst="rect">
            <a:avLst/>
          </a:prstGeom>
          <a:noFill/>
        </p:spPr>
        <p:txBody>
          <a:bodyPr wrap="square" lIns="45720" rIns="45720" tIns="18288" bIns="18288" anchor="t">
            <a:spAutoFit/>
          </a:bodyPr>
          <a:lstStyle/>
          <a:p>
            <a:pPr algn="ctr"/>
            <a:r>
              <a:rPr sz="1300" b="1" i="0">
                <a:solidFill>
                  <a:srgbClr val="1F3A5F"/>
                </a:solidFill>
                <a:latin typeface="Calibri"/>
              </a:rPr>
              <a:t>🐍  SQLite (mgmt via sqlite3)</a:t>
            </a:r>
          </a:p>
        </p:txBody>
      </p:sp>
      <p:sp>
        <p:nvSpPr>
          <p:cNvPr id="33" name="TextBox 32"/>
          <p:cNvSpPr txBox="1"/>
          <p:nvPr/>
        </p:nvSpPr>
        <p:spPr>
          <a:xfrm>
            <a:off x="1371600" y="5989320"/>
            <a:ext cx="4114800" cy="365760"/>
          </a:xfrm>
          <a:prstGeom prst="rect">
            <a:avLst/>
          </a:prstGeom>
          <a:noFill/>
        </p:spPr>
        <p:txBody>
          <a:bodyPr wrap="square" lIns="45720" rIns="45720" tIns="18288" bIns="18288" anchor="t">
            <a:spAutoFit/>
          </a:bodyPr>
          <a:lstStyle/>
          <a:p>
            <a:pPr algn="ctr"/>
            <a:r>
              <a:rPr sz="1000" b="0" i="1">
                <a:solidFill>
                  <a:srgbClr val="5F6B7C"/>
                </a:solidFill>
                <a:latin typeface="Calibri"/>
              </a:rPr>
              <a:t>Parameterised SQL, JOINs, GROUP BY</a:t>
            </a:r>
          </a:p>
        </p:txBody>
      </p:sp>
      <p:sp>
        <p:nvSpPr>
          <p:cNvPr id="34" name="Rectangle 33"/>
          <p:cNvSpPr/>
          <p:nvPr/>
        </p:nvSpPr>
        <p:spPr>
          <a:xfrm>
            <a:off x="6675120" y="5532120"/>
            <a:ext cx="4114800" cy="914400"/>
          </a:xfrm>
          <a:prstGeom prst="rect">
            <a:avLst/>
          </a:prstGeom>
          <a:solidFill>
            <a:srgbClr val="FFFFFF"/>
          </a:solidFill>
          <a:ln>
            <a:solidFill>
              <a:srgbClr val="2EA0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0" y="5623560"/>
            <a:ext cx="4114800" cy="365760"/>
          </a:xfrm>
          <a:prstGeom prst="rect">
            <a:avLst/>
          </a:prstGeom>
          <a:noFill/>
        </p:spPr>
        <p:txBody>
          <a:bodyPr wrap="square" lIns="45720" rIns="45720" tIns="18288" bIns="18288" anchor="t">
            <a:spAutoFit/>
          </a:bodyPr>
          <a:lstStyle/>
          <a:p>
            <a:pPr algn="ctr"/>
            <a:r>
              <a:rPr sz="1300" b="1" i="0">
                <a:solidFill>
                  <a:srgbClr val="1F3A5F"/>
                </a:solidFill>
                <a:latin typeface="Calibri"/>
              </a:rPr>
              <a:t>⚙️  TAB-separated flat files</a:t>
            </a:r>
          </a:p>
        </p:txBody>
      </p:sp>
      <p:sp>
        <p:nvSpPr>
          <p:cNvPr id="36" name="TextBox 35"/>
          <p:cNvSpPr txBox="1"/>
          <p:nvPr/>
        </p:nvSpPr>
        <p:spPr>
          <a:xfrm>
            <a:off x="6675120" y="5989320"/>
            <a:ext cx="4114800" cy="365760"/>
          </a:xfrm>
          <a:prstGeom prst="rect">
            <a:avLst/>
          </a:prstGeom>
          <a:noFill/>
        </p:spPr>
        <p:txBody>
          <a:bodyPr wrap="square" lIns="45720" rIns="45720" tIns="18288" bIns="18288" anchor="t">
            <a:spAutoFit/>
          </a:bodyPr>
          <a:lstStyle/>
          <a:p>
            <a:pPr algn="ctr"/>
            <a:r>
              <a:rPr sz="1000" b="0" i="1">
                <a:solidFill>
                  <a:srgbClr val="5F6B7C"/>
                </a:solidFill>
                <a:latin typeface="Calibri"/>
              </a:rPr>
              <a:t>One file per entity, std::vector in memory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9144000" cy="548640"/>
          </a:xfrm>
          <a:prstGeom prst="rect">
            <a:avLst/>
          </a:prstGeom>
          <a:noFill/>
        </p:spPr>
        <p:txBody>
          <a:bodyPr wrap="square" lIns="45720" rIns="45720" tIns="18288" bIns="18288" anchor="ctr">
            <a:spAutoFit/>
          </a:bodyPr>
          <a:lstStyle/>
          <a:p>
            <a:pPr algn="l"/>
            <a:r>
              <a:rPr sz="2800" b="1" i="0">
                <a:solidFill>
                  <a:srgbClr val="FFFFFF"/>
                </a:solidFill>
                <a:latin typeface="Calibri"/>
              </a:rPr>
              <a:t>Python Implementation</a:t>
            </a:r>
          </a:p>
        </p:txBody>
      </p:sp>
      <p:sp>
        <p:nvSpPr>
          <p:cNvPr id="6" name="TextBox 5"/>
          <p:cNvSpPr txBox="1"/>
          <p:nvPr/>
        </p:nvSpPr>
        <p:spPr>
          <a:xfrm>
            <a:off x="457200" y="502920"/>
            <a:ext cx="9144000" cy="365760"/>
          </a:xfrm>
          <a:prstGeom prst="rect">
            <a:avLst/>
          </a:prstGeom>
          <a:noFill/>
        </p:spPr>
        <p:txBody>
          <a:bodyPr wrap="square" lIns="45720" rIns="45720" tIns="18288" bIns="18288" anchor="t">
            <a:spAutoFit/>
          </a:bodyPr>
          <a:lstStyle/>
          <a:p>
            <a:pPr algn="l"/>
            <a:r>
              <a:rPr sz="1200" b="0" i="1">
                <a:solidFill>
                  <a:srgbClr val="9BD1FF"/>
                </a:solidFill>
                <a:latin typeface="Calibri"/>
              </a:rPr>
              <a:t>Tkinter GUI · SQLite · TCP server (multi-threaded)</a:t>
            </a:r>
          </a:p>
        </p:txBody>
      </p:sp>
      <p:sp>
        <p:nvSpPr>
          <p:cNvPr id="7" name="TextBox 6"/>
          <p:cNvSpPr txBox="1"/>
          <p:nvPr/>
        </p:nvSpPr>
        <p:spPr>
          <a:xfrm>
            <a:off x="10789920" y="228600"/>
            <a:ext cx="1280160" cy="457200"/>
          </a:xfrm>
          <a:prstGeom prst="rect">
            <a:avLst/>
          </a:prstGeom>
          <a:noFill/>
        </p:spPr>
        <p:txBody>
          <a:bodyPr wrap="square" lIns="45720" rIns="45720" tIns="18288" bIns="18288" anchor="ctr">
            <a:spAutoFit/>
          </a:bodyPr>
          <a:lstStyle/>
          <a:p>
            <a:pPr algn="r"/>
            <a:r>
              <a:rPr sz="1100" b="0" i="0">
                <a:solidFill>
                  <a:srgbClr val="FFFFFF"/>
                </a:solidFill>
                <a:latin typeface="Calibri"/>
              </a:rPr>
              <a:t>CS516 · IAU</a:t>
            </a:r>
          </a:p>
        </p:txBody>
      </p:sp>
      <p:pic>
        <p:nvPicPr>
          <p:cNvPr id="8" name="Picture 7" descr="py_01_login.png"/>
          <p:cNvPicPr>
            <a:picLocks noChangeAspect="1"/>
          </p:cNvPicPr>
          <p:nvPr/>
        </p:nvPicPr>
        <p:blipFill>
          <a:blip r:embed="rId2"/>
          <a:stretch>
            <a:fillRect/>
          </a:stretch>
        </p:blipFill>
        <p:spPr>
          <a:xfrm>
            <a:off x="457200" y="1234440"/>
            <a:ext cx="2926080" cy="2229394"/>
          </a:xfrm>
          <a:prstGeom prst="rect">
            <a:avLst/>
          </a:prstGeom>
        </p:spPr>
      </p:pic>
      <p:pic>
        <p:nvPicPr>
          <p:cNvPr id="9" name="Picture 8" descr="py_08_enrollment_tab.png"/>
          <p:cNvPicPr>
            <a:picLocks noChangeAspect="1"/>
          </p:cNvPicPr>
          <p:nvPr/>
        </p:nvPicPr>
        <p:blipFill>
          <a:blip r:embed="rId3"/>
          <a:stretch>
            <a:fillRect/>
          </a:stretch>
        </p:blipFill>
        <p:spPr>
          <a:xfrm>
            <a:off x="3520440" y="1234440"/>
            <a:ext cx="4206240" cy="2607869"/>
          </a:xfrm>
          <a:prstGeom prst="rect">
            <a:avLst/>
          </a:prstGeom>
        </p:spPr>
      </p:pic>
      <p:pic>
        <p:nvPicPr>
          <p:cNvPr id="10" name="Picture 9" descr="py_10_attendance_summary.png"/>
          <p:cNvPicPr>
            <a:picLocks noChangeAspect="1"/>
          </p:cNvPicPr>
          <p:nvPr/>
        </p:nvPicPr>
        <p:blipFill>
          <a:blip r:embed="rId4"/>
          <a:stretch>
            <a:fillRect/>
          </a:stretch>
        </p:blipFill>
        <p:spPr>
          <a:xfrm>
            <a:off x="7818120" y="1234440"/>
            <a:ext cx="4023360" cy="2494483"/>
          </a:xfrm>
          <a:prstGeom prst="rect">
            <a:avLst/>
          </a:prstGeom>
        </p:spPr>
      </p:pic>
      <p:sp>
        <p:nvSpPr>
          <p:cNvPr id="11" name="Rounded Rectangle 10"/>
          <p:cNvSpPr/>
          <p:nvPr/>
        </p:nvSpPr>
        <p:spPr>
          <a:xfrm>
            <a:off x="457200" y="4023360"/>
            <a:ext cx="1828800" cy="32004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000" b="1">
                <a:solidFill>
                  <a:srgbClr val="FFFFFF"/>
                </a:solidFill>
                <a:latin typeface="Calibri"/>
              </a:rPr>
              <a:t>1. Sign in</a:t>
            </a:r>
          </a:p>
        </p:txBody>
      </p:sp>
      <p:sp>
        <p:nvSpPr>
          <p:cNvPr id="12" name="Rounded Rectangle 11"/>
          <p:cNvSpPr/>
          <p:nvPr/>
        </p:nvSpPr>
        <p:spPr>
          <a:xfrm>
            <a:off x="3520440" y="4023360"/>
            <a:ext cx="1828800" cy="32004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000" b="1">
                <a:solidFill>
                  <a:srgbClr val="FFFFFF"/>
                </a:solidFill>
                <a:latin typeface="Calibri"/>
              </a:rPr>
              <a:t>2. Enroll students</a:t>
            </a:r>
          </a:p>
        </p:txBody>
      </p:sp>
      <p:sp>
        <p:nvSpPr>
          <p:cNvPr id="13" name="Rounded Rectangle 12"/>
          <p:cNvSpPr/>
          <p:nvPr/>
        </p:nvSpPr>
        <p:spPr>
          <a:xfrm>
            <a:off x="7818120" y="4023360"/>
            <a:ext cx="1828800" cy="32004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000" b="1">
                <a:solidFill>
                  <a:srgbClr val="FFFFFF"/>
                </a:solidFill>
                <a:latin typeface="Calibri"/>
              </a:rPr>
              <a:t>3. Track attendance</a:t>
            </a:r>
          </a:p>
        </p:txBody>
      </p:sp>
      <p:sp>
        <p:nvSpPr>
          <p:cNvPr id="14" name="TextBox 13"/>
          <p:cNvSpPr txBox="1"/>
          <p:nvPr/>
        </p:nvSpPr>
        <p:spPr>
          <a:xfrm>
            <a:off x="457200" y="4617720"/>
            <a:ext cx="3657600" cy="365760"/>
          </a:xfrm>
          <a:prstGeom prst="rect">
            <a:avLst/>
          </a:prstGeom>
          <a:noFill/>
        </p:spPr>
        <p:txBody>
          <a:bodyPr wrap="square" lIns="45720" rIns="45720" tIns="18288" bIns="18288" anchor="t">
            <a:spAutoFit/>
          </a:bodyPr>
          <a:lstStyle/>
          <a:p>
            <a:pPr algn="l"/>
            <a:r>
              <a:rPr sz="1100" b="1" i="0">
                <a:solidFill>
                  <a:srgbClr val="1F3A5F"/>
                </a:solidFill>
                <a:latin typeface="Calibri"/>
              </a:rPr>
              <a:t>TECH STACK</a:t>
            </a:r>
          </a:p>
        </p:txBody>
      </p:sp>
      <p:sp>
        <p:nvSpPr>
          <p:cNvPr id="15" name="Rounded Rectangle 14"/>
          <p:cNvSpPr/>
          <p:nvPr/>
        </p:nvSpPr>
        <p:spPr>
          <a:xfrm>
            <a:off x="457200" y="4983480"/>
            <a:ext cx="1188720" cy="36576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a:solidFill>
                  <a:srgbClr val="FFFFFF"/>
                </a:solidFill>
                <a:latin typeface="Calibri"/>
              </a:rPr>
              <a:t>tkinter</a:t>
            </a:r>
          </a:p>
        </p:txBody>
      </p:sp>
      <p:sp>
        <p:nvSpPr>
          <p:cNvPr id="16" name="Rounded Rectangle 15"/>
          <p:cNvSpPr/>
          <p:nvPr/>
        </p:nvSpPr>
        <p:spPr>
          <a:xfrm>
            <a:off x="1737360" y="4983480"/>
            <a:ext cx="1188720" cy="36576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a:solidFill>
                  <a:srgbClr val="FFFFFF"/>
                </a:solidFill>
                <a:latin typeface="Calibri"/>
              </a:rPr>
              <a:t>sqlite3</a:t>
            </a:r>
          </a:p>
        </p:txBody>
      </p:sp>
      <p:sp>
        <p:nvSpPr>
          <p:cNvPr id="17" name="Rounded Rectangle 16"/>
          <p:cNvSpPr/>
          <p:nvPr/>
        </p:nvSpPr>
        <p:spPr>
          <a:xfrm>
            <a:off x="3017520" y="4983480"/>
            <a:ext cx="1188720" cy="36576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a:solidFill>
                  <a:srgbClr val="FFFFFF"/>
                </a:solidFill>
                <a:latin typeface="Calibri"/>
              </a:rPr>
              <a:t>socket</a:t>
            </a:r>
          </a:p>
        </p:txBody>
      </p:sp>
      <p:sp>
        <p:nvSpPr>
          <p:cNvPr id="18" name="Rounded Rectangle 17"/>
          <p:cNvSpPr/>
          <p:nvPr/>
        </p:nvSpPr>
        <p:spPr>
          <a:xfrm>
            <a:off x="4297680" y="4983480"/>
            <a:ext cx="1188720" cy="36576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a:solidFill>
                  <a:srgbClr val="FFFFFF"/>
                </a:solidFill>
                <a:latin typeface="Calibri"/>
              </a:rPr>
              <a:t>threading</a:t>
            </a:r>
          </a:p>
        </p:txBody>
      </p:sp>
      <p:sp>
        <p:nvSpPr>
          <p:cNvPr id="19" name="Rounded Rectangle 18"/>
          <p:cNvSpPr/>
          <p:nvPr/>
        </p:nvSpPr>
        <p:spPr>
          <a:xfrm>
            <a:off x="5577840" y="4983480"/>
            <a:ext cx="1188720" cy="36576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a:solidFill>
                  <a:srgbClr val="FFFFFF"/>
                </a:solidFill>
                <a:latin typeface="Calibri"/>
              </a:rPr>
              <a:t>json</a:t>
            </a:r>
          </a:p>
        </p:txBody>
      </p:sp>
      <p:sp>
        <p:nvSpPr>
          <p:cNvPr id="20" name="TextBox 19"/>
          <p:cNvSpPr txBox="1"/>
          <p:nvPr/>
        </p:nvSpPr>
        <p:spPr>
          <a:xfrm>
            <a:off x="7315200" y="4617720"/>
            <a:ext cx="4572000" cy="365760"/>
          </a:xfrm>
          <a:prstGeom prst="rect">
            <a:avLst/>
          </a:prstGeom>
          <a:noFill/>
        </p:spPr>
        <p:txBody>
          <a:bodyPr wrap="square" lIns="45720" rIns="45720" tIns="18288" bIns="18288" anchor="t">
            <a:spAutoFit/>
          </a:bodyPr>
          <a:lstStyle/>
          <a:p>
            <a:pPr algn="l"/>
            <a:r>
              <a:rPr sz="1100" b="1" i="0">
                <a:solidFill>
                  <a:srgbClr val="1F3A5F"/>
                </a:solidFill>
                <a:latin typeface="Calibri"/>
              </a:rPr>
              <a:t>WHY PYTHON SHINES HERE</a:t>
            </a:r>
          </a:p>
        </p:txBody>
      </p:sp>
      <p:sp>
        <p:nvSpPr>
          <p:cNvPr id="21" name="TextBox 20"/>
          <p:cNvSpPr txBox="1"/>
          <p:nvPr/>
        </p:nvSpPr>
        <p:spPr>
          <a:xfrm>
            <a:off x="7315200" y="4983480"/>
            <a:ext cx="4846320" cy="320040"/>
          </a:xfrm>
          <a:prstGeom prst="rect">
            <a:avLst/>
          </a:prstGeom>
          <a:noFill/>
        </p:spPr>
        <p:txBody>
          <a:bodyPr wrap="square" lIns="45720" rIns="45720" tIns="18288" bIns="18288" anchor="t">
            <a:spAutoFit/>
          </a:bodyPr>
          <a:lstStyle/>
          <a:p>
            <a:pPr algn="l"/>
            <a:r>
              <a:rPr sz="1100" b="0" i="0">
                <a:solidFill>
                  <a:srgbClr val="1B2128"/>
                </a:solidFill>
                <a:latin typeface="Calibri"/>
              </a:rPr>
              <a:t>✓ Zero external dependencies — standard library only</a:t>
            </a:r>
          </a:p>
        </p:txBody>
      </p:sp>
      <p:sp>
        <p:nvSpPr>
          <p:cNvPr id="22" name="TextBox 21"/>
          <p:cNvSpPr txBox="1"/>
          <p:nvPr/>
        </p:nvSpPr>
        <p:spPr>
          <a:xfrm>
            <a:off x="7315200" y="5303520"/>
            <a:ext cx="4846320" cy="320040"/>
          </a:xfrm>
          <a:prstGeom prst="rect">
            <a:avLst/>
          </a:prstGeom>
          <a:noFill/>
        </p:spPr>
        <p:txBody>
          <a:bodyPr wrap="square" lIns="45720" rIns="45720" tIns="18288" bIns="18288" anchor="t">
            <a:spAutoFit/>
          </a:bodyPr>
          <a:lstStyle/>
          <a:p>
            <a:pPr algn="l"/>
            <a:r>
              <a:rPr sz="1100" b="0" i="0">
                <a:solidFill>
                  <a:srgbClr val="1B2128"/>
                </a:solidFill>
                <a:latin typeface="Calibri"/>
              </a:rPr>
              <a:t>✓ GUI built in ~600 lines of tkinter</a:t>
            </a:r>
          </a:p>
        </p:txBody>
      </p:sp>
      <p:sp>
        <p:nvSpPr>
          <p:cNvPr id="23" name="TextBox 22"/>
          <p:cNvSpPr txBox="1"/>
          <p:nvPr/>
        </p:nvSpPr>
        <p:spPr>
          <a:xfrm>
            <a:off x="7315200" y="5623560"/>
            <a:ext cx="4846320" cy="320040"/>
          </a:xfrm>
          <a:prstGeom prst="rect">
            <a:avLst/>
          </a:prstGeom>
          <a:noFill/>
        </p:spPr>
        <p:txBody>
          <a:bodyPr wrap="square" lIns="45720" rIns="45720" tIns="18288" bIns="18288" anchor="t">
            <a:spAutoFit/>
          </a:bodyPr>
          <a:lstStyle/>
          <a:p>
            <a:pPr algn="l"/>
            <a:r>
              <a:rPr sz="1100" b="0" i="0">
                <a:solidFill>
                  <a:srgbClr val="1B2128"/>
                </a:solidFill>
                <a:latin typeface="Calibri"/>
              </a:rPr>
              <a:t>✓ SQL handles GROUP BY for free</a:t>
            </a:r>
          </a:p>
        </p:txBody>
      </p:sp>
      <p:sp>
        <p:nvSpPr>
          <p:cNvPr id="24" name="TextBox 23"/>
          <p:cNvSpPr txBox="1"/>
          <p:nvPr/>
        </p:nvSpPr>
        <p:spPr>
          <a:xfrm>
            <a:off x="7315200" y="5943600"/>
            <a:ext cx="4846320" cy="320040"/>
          </a:xfrm>
          <a:prstGeom prst="rect">
            <a:avLst/>
          </a:prstGeom>
          <a:noFill/>
        </p:spPr>
        <p:txBody>
          <a:bodyPr wrap="square" lIns="45720" rIns="45720" tIns="18288" bIns="18288" anchor="t">
            <a:spAutoFit/>
          </a:bodyPr>
          <a:lstStyle/>
          <a:p>
            <a:pPr algn="l"/>
            <a:r>
              <a:rPr sz="1100" b="0" i="0">
                <a:solidFill>
                  <a:srgbClr val="1B2128"/>
                </a:solidFill>
                <a:latin typeface="Calibri"/>
              </a:rPr>
              <a:t>✓ Cross-platform from day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9144000" cy="548640"/>
          </a:xfrm>
          <a:prstGeom prst="rect">
            <a:avLst/>
          </a:prstGeom>
          <a:noFill/>
        </p:spPr>
        <p:txBody>
          <a:bodyPr wrap="square" lIns="45720" rIns="45720" tIns="18288" bIns="18288" anchor="ctr">
            <a:spAutoFit/>
          </a:bodyPr>
          <a:lstStyle/>
          <a:p>
            <a:pPr algn="l"/>
            <a:r>
              <a:rPr sz="2800" b="1" i="0">
                <a:solidFill>
                  <a:srgbClr val="FFFFFF"/>
                </a:solidFill>
                <a:latin typeface="Calibri"/>
              </a:rPr>
              <a:t>C++ Implementation</a:t>
            </a:r>
          </a:p>
        </p:txBody>
      </p:sp>
      <p:sp>
        <p:nvSpPr>
          <p:cNvPr id="6" name="TextBox 5"/>
          <p:cNvSpPr txBox="1"/>
          <p:nvPr/>
        </p:nvSpPr>
        <p:spPr>
          <a:xfrm>
            <a:off x="457200" y="502920"/>
            <a:ext cx="9144000" cy="365760"/>
          </a:xfrm>
          <a:prstGeom prst="rect">
            <a:avLst/>
          </a:prstGeom>
          <a:noFill/>
        </p:spPr>
        <p:txBody>
          <a:bodyPr wrap="square" lIns="45720" rIns="45720" tIns="18288" bIns="18288" anchor="t">
            <a:spAutoFit/>
          </a:bodyPr>
          <a:lstStyle/>
          <a:p>
            <a:pPr algn="l"/>
            <a:r>
              <a:rPr sz="1200" b="0" i="1">
                <a:solidFill>
                  <a:srgbClr val="9BD1FF"/>
                </a:solidFill>
                <a:latin typeface="Calibri"/>
              </a:rPr>
              <a:t>OOP server · Winsock · static .exe — zero dependencies</a:t>
            </a:r>
          </a:p>
        </p:txBody>
      </p:sp>
      <p:sp>
        <p:nvSpPr>
          <p:cNvPr id="7" name="TextBox 6"/>
          <p:cNvSpPr txBox="1"/>
          <p:nvPr/>
        </p:nvSpPr>
        <p:spPr>
          <a:xfrm>
            <a:off x="10789920" y="228600"/>
            <a:ext cx="1280160" cy="457200"/>
          </a:xfrm>
          <a:prstGeom prst="rect">
            <a:avLst/>
          </a:prstGeom>
          <a:noFill/>
        </p:spPr>
        <p:txBody>
          <a:bodyPr wrap="square" lIns="45720" rIns="45720" tIns="18288" bIns="18288" anchor="ctr">
            <a:spAutoFit/>
          </a:bodyPr>
          <a:lstStyle/>
          <a:p>
            <a:pPr algn="r"/>
            <a:r>
              <a:rPr sz="1100" b="0" i="0">
                <a:solidFill>
                  <a:srgbClr val="FFFFFF"/>
                </a:solidFill>
                <a:latin typeface="Calibri"/>
              </a:rPr>
              <a:t>CS516 · IAU</a:t>
            </a:r>
          </a:p>
        </p:txBody>
      </p:sp>
      <p:pic>
        <p:nvPicPr>
          <p:cNvPr id="8" name="Picture 7" descr="cpp_01_login.png"/>
          <p:cNvPicPr>
            <a:picLocks noChangeAspect="1"/>
          </p:cNvPicPr>
          <p:nvPr/>
        </p:nvPicPr>
        <p:blipFill>
          <a:blip r:embed="rId2"/>
          <a:stretch>
            <a:fillRect/>
          </a:stretch>
        </p:blipFill>
        <p:spPr>
          <a:xfrm>
            <a:off x="457200" y="1234440"/>
            <a:ext cx="3657600" cy="1391920"/>
          </a:xfrm>
          <a:prstGeom prst="rect">
            <a:avLst/>
          </a:prstGeom>
        </p:spPr>
      </p:pic>
      <p:pic>
        <p:nvPicPr>
          <p:cNvPr id="9" name="Picture 8" descr="cpp_03_students_view_all.png"/>
          <p:cNvPicPr>
            <a:picLocks noChangeAspect="1"/>
          </p:cNvPicPr>
          <p:nvPr/>
        </p:nvPicPr>
        <p:blipFill>
          <a:blip r:embed="rId3"/>
          <a:stretch>
            <a:fillRect/>
          </a:stretch>
        </p:blipFill>
        <p:spPr>
          <a:xfrm>
            <a:off x="4251960" y="1234440"/>
            <a:ext cx="3840480" cy="2004543"/>
          </a:xfrm>
          <a:prstGeom prst="rect">
            <a:avLst/>
          </a:prstGeom>
        </p:spPr>
      </p:pic>
      <p:pic>
        <p:nvPicPr>
          <p:cNvPr id="10" name="Picture 9" descr="cpp_10_attendance_summary.png"/>
          <p:cNvPicPr>
            <a:picLocks noChangeAspect="1"/>
          </p:cNvPicPr>
          <p:nvPr/>
        </p:nvPicPr>
        <p:blipFill>
          <a:blip r:embed="rId4"/>
          <a:stretch>
            <a:fillRect/>
          </a:stretch>
        </p:blipFill>
        <p:spPr>
          <a:xfrm>
            <a:off x="8229600" y="1234440"/>
            <a:ext cx="3611880" cy="1153795"/>
          </a:xfrm>
          <a:prstGeom prst="rect">
            <a:avLst/>
          </a:prstGeom>
        </p:spPr>
      </p:pic>
      <p:sp>
        <p:nvSpPr>
          <p:cNvPr id="11" name="Rounded Rectangle 10"/>
          <p:cNvSpPr/>
          <p:nvPr/>
        </p:nvSpPr>
        <p:spPr>
          <a:xfrm>
            <a:off x="457200" y="4023360"/>
            <a:ext cx="1828800" cy="320040"/>
          </a:xfrm>
          <a:prstGeom prst="round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000" b="1">
                <a:solidFill>
                  <a:srgbClr val="FFFFFF"/>
                </a:solidFill>
                <a:latin typeface="Calibri"/>
              </a:rPr>
              <a:t>1. Login</a:t>
            </a:r>
          </a:p>
        </p:txBody>
      </p:sp>
      <p:sp>
        <p:nvSpPr>
          <p:cNvPr id="12" name="Rounded Rectangle 11"/>
          <p:cNvSpPr/>
          <p:nvPr/>
        </p:nvSpPr>
        <p:spPr>
          <a:xfrm>
            <a:off x="4251960" y="4023360"/>
            <a:ext cx="1828800" cy="320040"/>
          </a:xfrm>
          <a:prstGeom prst="round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000" b="1">
                <a:solidFill>
                  <a:srgbClr val="FFFFFF"/>
                </a:solidFill>
                <a:latin typeface="Calibri"/>
              </a:rPr>
              <a:t>2. View students</a:t>
            </a:r>
          </a:p>
        </p:txBody>
      </p:sp>
      <p:sp>
        <p:nvSpPr>
          <p:cNvPr id="13" name="Rounded Rectangle 12"/>
          <p:cNvSpPr/>
          <p:nvPr/>
        </p:nvSpPr>
        <p:spPr>
          <a:xfrm>
            <a:off x="8229600" y="4023360"/>
            <a:ext cx="1828800" cy="320040"/>
          </a:xfrm>
          <a:prstGeom prst="round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000" b="1">
                <a:solidFill>
                  <a:srgbClr val="FFFFFF"/>
                </a:solidFill>
                <a:latin typeface="Calibri"/>
              </a:rPr>
              <a:t>3. Summary report</a:t>
            </a:r>
          </a:p>
        </p:txBody>
      </p:sp>
      <p:sp>
        <p:nvSpPr>
          <p:cNvPr id="14" name="TextBox 13"/>
          <p:cNvSpPr txBox="1"/>
          <p:nvPr/>
        </p:nvSpPr>
        <p:spPr>
          <a:xfrm>
            <a:off x="457200" y="4617720"/>
            <a:ext cx="3657600" cy="365760"/>
          </a:xfrm>
          <a:prstGeom prst="rect">
            <a:avLst/>
          </a:prstGeom>
          <a:noFill/>
        </p:spPr>
        <p:txBody>
          <a:bodyPr wrap="square" lIns="45720" rIns="45720" tIns="18288" bIns="18288" anchor="t">
            <a:spAutoFit/>
          </a:bodyPr>
          <a:lstStyle/>
          <a:p>
            <a:pPr algn="l"/>
            <a:r>
              <a:rPr sz="1100" b="1" i="0">
                <a:solidFill>
                  <a:srgbClr val="1F3A5F"/>
                </a:solidFill>
                <a:latin typeface="Calibri"/>
              </a:rPr>
              <a:t>TECH STACK</a:t>
            </a:r>
          </a:p>
        </p:txBody>
      </p:sp>
      <p:sp>
        <p:nvSpPr>
          <p:cNvPr id="15" name="Rounded Rectangle 14"/>
          <p:cNvSpPr/>
          <p:nvPr/>
        </p:nvSpPr>
        <p:spPr>
          <a:xfrm>
            <a:off x="457200" y="4983480"/>
            <a:ext cx="1554480" cy="365760"/>
          </a:xfrm>
          <a:prstGeom prst="round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000" b="1">
                <a:solidFill>
                  <a:srgbClr val="FFFFFF"/>
                </a:solidFill>
                <a:latin typeface="Calibri"/>
              </a:rPr>
              <a:t>C++17</a:t>
            </a:r>
          </a:p>
        </p:txBody>
      </p:sp>
      <p:sp>
        <p:nvSpPr>
          <p:cNvPr id="16" name="Rounded Rectangle 15"/>
          <p:cNvSpPr/>
          <p:nvPr/>
        </p:nvSpPr>
        <p:spPr>
          <a:xfrm>
            <a:off x="2103120" y="4983480"/>
            <a:ext cx="1554480" cy="365760"/>
          </a:xfrm>
          <a:prstGeom prst="round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000" b="1">
                <a:solidFill>
                  <a:srgbClr val="FFFFFF"/>
                </a:solidFill>
                <a:latin typeface="Calibri"/>
              </a:rPr>
              <a:t>Winsock2</a:t>
            </a:r>
          </a:p>
        </p:txBody>
      </p:sp>
      <p:sp>
        <p:nvSpPr>
          <p:cNvPr id="17" name="Rounded Rectangle 16"/>
          <p:cNvSpPr/>
          <p:nvPr/>
        </p:nvSpPr>
        <p:spPr>
          <a:xfrm>
            <a:off x="3749040" y="4983480"/>
            <a:ext cx="1554480" cy="365760"/>
          </a:xfrm>
          <a:prstGeom prst="round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000" b="1">
                <a:solidFill>
                  <a:srgbClr val="FFFFFF"/>
                </a:solidFill>
                <a:latin typeface="Calibri"/>
              </a:rPr>
              <a:t>std::thread</a:t>
            </a:r>
          </a:p>
        </p:txBody>
      </p:sp>
      <p:sp>
        <p:nvSpPr>
          <p:cNvPr id="18" name="Rounded Rectangle 17"/>
          <p:cNvSpPr/>
          <p:nvPr/>
        </p:nvSpPr>
        <p:spPr>
          <a:xfrm>
            <a:off x="5394960" y="4983480"/>
            <a:ext cx="1554480" cy="365760"/>
          </a:xfrm>
          <a:prstGeom prst="round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000" b="1">
                <a:solidFill>
                  <a:srgbClr val="FFFFFF"/>
                </a:solidFill>
                <a:latin typeface="Calibri"/>
              </a:rPr>
              <a:t>std::filesystem</a:t>
            </a:r>
          </a:p>
        </p:txBody>
      </p:sp>
      <p:sp>
        <p:nvSpPr>
          <p:cNvPr id="19" name="Rounded Rectangle 18"/>
          <p:cNvSpPr/>
          <p:nvPr/>
        </p:nvSpPr>
        <p:spPr>
          <a:xfrm>
            <a:off x="7040880" y="4983480"/>
            <a:ext cx="1554480" cy="365760"/>
          </a:xfrm>
          <a:prstGeom prst="round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000" b="1">
                <a:solidFill>
                  <a:srgbClr val="FFFFFF"/>
                </a:solidFill>
                <a:latin typeface="Calibri"/>
              </a:rPr>
              <a:t>MinGW g++ 14.2</a:t>
            </a:r>
          </a:p>
        </p:txBody>
      </p:sp>
      <p:sp>
        <p:nvSpPr>
          <p:cNvPr id="20" name="TextBox 19"/>
          <p:cNvSpPr txBox="1"/>
          <p:nvPr/>
        </p:nvSpPr>
        <p:spPr>
          <a:xfrm>
            <a:off x="7315200" y="4617720"/>
            <a:ext cx="4572000" cy="365760"/>
          </a:xfrm>
          <a:prstGeom prst="rect">
            <a:avLst/>
          </a:prstGeom>
          <a:noFill/>
        </p:spPr>
        <p:txBody>
          <a:bodyPr wrap="square" lIns="45720" rIns="45720" tIns="18288" bIns="18288" anchor="t">
            <a:spAutoFit/>
          </a:bodyPr>
          <a:lstStyle/>
          <a:p>
            <a:pPr algn="l"/>
            <a:r>
              <a:rPr sz="1100" b="1" i="0">
                <a:solidFill>
                  <a:srgbClr val="1F3A5F"/>
                </a:solidFill>
                <a:latin typeface="Calibri"/>
              </a:rPr>
              <a:t>WHY C++ SHINES HERE</a:t>
            </a:r>
          </a:p>
        </p:txBody>
      </p:sp>
      <p:sp>
        <p:nvSpPr>
          <p:cNvPr id="21" name="TextBox 20"/>
          <p:cNvSpPr txBox="1"/>
          <p:nvPr/>
        </p:nvSpPr>
        <p:spPr>
          <a:xfrm>
            <a:off x="7315200" y="4983480"/>
            <a:ext cx="4846320" cy="320040"/>
          </a:xfrm>
          <a:prstGeom prst="rect">
            <a:avLst/>
          </a:prstGeom>
          <a:noFill/>
        </p:spPr>
        <p:txBody>
          <a:bodyPr wrap="square" lIns="45720" rIns="45720" tIns="18288" bIns="18288" anchor="t">
            <a:spAutoFit/>
          </a:bodyPr>
          <a:lstStyle/>
          <a:p>
            <a:pPr algn="l"/>
            <a:r>
              <a:rPr sz="1100" b="0" i="0">
                <a:solidFill>
                  <a:srgbClr val="1B2128"/>
                </a:solidFill>
                <a:latin typeface="Calibri"/>
              </a:rPr>
              <a:t>✓ Single self-contained .exe (no DLLs needed)</a:t>
            </a:r>
          </a:p>
        </p:txBody>
      </p:sp>
      <p:sp>
        <p:nvSpPr>
          <p:cNvPr id="22" name="TextBox 21"/>
          <p:cNvSpPr txBox="1"/>
          <p:nvPr/>
        </p:nvSpPr>
        <p:spPr>
          <a:xfrm>
            <a:off x="7315200" y="5303520"/>
            <a:ext cx="4846320" cy="320040"/>
          </a:xfrm>
          <a:prstGeom prst="rect">
            <a:avLst/>
          </a:prstGeom>
          <a:noFill/>
        </p:spPr>
        <p:txBody>
          <a:bodyPr wrap="square" lIns="45720" rIns="45720" tIns="18288" bIns="18288" anchor="t">
            <a:spAutoFit/>
          </a:bodyPr>
          <a:lstStyle/>
          <a:p>
            <a:pPr algn="l"/>
            <a:r>
              <a:rPr sz="1100" b="0" i="0">
                <a:solidFill>
                  <a:srgbClr val="1B2128"/>
                </a:solidFill>
                <a:latin typeface="Calibri"/>
              </a:rPr>
              <a:t>✓ Clean OOP: one Repository class per entity</a:t>
            </a:r>
          </a:p>
        </p:txBody>
      </p:sp>
      <p:sp>
        <p:nvSpPr>
          <p:cNvPr id="23" name="TextBox 22"/>
          <p:cNvSpPr txBox="1"/>
          <p:nvPr/>
        </p:nvSpPr>
        <p:spPr>
          <a:xfrm>
            <a:off x="7315200" y="5623560"/>
            <a:ext cx="4846320" cy="320040"/>
          </a:xfrm>
          <a:prstGeom prst="rect">
            <a:avLst/>
          </a:prstGeom>
          <a:noFill/>
        </p:spPr>
        <p:txBody>
          <a:bodyPr wrap="square" lIns="45720" rIns="45720" tIns="18288" bIns="18288" anchor="t">
            <a:spAutoFit/>
          </a:bodyPr>
          <a:lstStyle/>
          <a:p>
            <a:pPr algn="l"/>
            <a:r>
              <a:rPr sz="1100" b="0" i="0">
                <a:solidFill>
                  <a:srgbClr val="1B2128"/>
                </a:solidFill>
                <a:latin typeface="Calibri"/>
              </a:rPr>
              <a:t>✓ Predictable memory via RAII — no GC pauses</a:t>
            </a:r>
          </a:p>
        </p:txBody>
      </p:sp>
      <p:sp>
        <p:nvSpPr>
          <p:cNvPr id="24" name="TextBox 23"/>
          <p:cNvSpPr txBox="1"/>
          <p:nvPr/>
        </p:nvSpPr>
        <p:spPr>
          <a:xfrm>
            <a:off x="7315200" y="5943600"/>
            <a:ext cx="4846320" cy="320040"/>
          </a:xfrm>
          <a:prstGeom prst="rect">
            <a:avLst/>
          </a:prstGeom>
          <a:noFill/>
        </p:spPr>
        <p:txBody>
          <a:bodyPr wrap="square" lIns="45720" rIns="45720" tIns="18288" bIns="18288" anchor="t">
            <a:spAutoFit/>
          </a:bodyPr>
          <a:lstStyle/>
          <a:p>
            <a:pPr algn="l"/>
            <a:r>
              <a:rPr sz="1100" b="0" i="0">
                <a:solidFill>
                  <a:srgbClr val="1B2128"/>
                </a:solidFill>
                <a:latin typeface="Calibri"/>
              </a:rPr>
              <a:t>✓ Static type checking catches bugs at compile time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9144000" cy="548640"/>
          </a:xfrm>
          <a:prstGeom prst="rect">
            <a:avLst/>
          </a:prstGeom>
          <a:noFill/>
        </p:spPr>
        <p:txBody>
          <a:bodyPr wrap="square" lIns="45720" rIns="45720" tIns="18288" bIns="18288" anchor="ctr">
            <a:spAutoFit/>
          </a:bodyPr>
          <a:lstStyle/>
          <a:p>
            <a:pPr algn="l"/>
            <a:r>
              <a:rPr sz="2800" b="1" i="0">
                <a:solidFill>
                  <a:srgbClr val="FFFFFF"/>
                </a:solidFill>
                <a:latin typeface="Calibri"/>
              </a:rPr>
              <a:t>Comparison — Part 1</a:t>
            </a:r>
          </a:p>
        </p:txBody>
      </p:sp>
      <p:sp>
        <p:nvSpPr>
          <p:cNvPr id="6" name="TextBox 5"/>
          <p:cNvSpPr txBox="1"/>
          <p:nvPr/>
        </p:nvSpPr>
        <p:spPr>
          <a:xfrm>
            <a:off x="457200" y="502920"/>
            <a:ext cx="9144000" cy="365760"/>
          </a:xfrm>
          <a:prstGeom prst="rect">
            <a:avLst/>
          </a:prstGeom>
          <a:noFill/>
        </p:spPr>
        <p:txBody>
          <a:bodyPr wrap="square" lIns="45720" rIns="45720" tIns="18288" bIns="18288" anchor="t">
            <a:spAutoFit/>
          </a:bodyPr>
          <a:lstStyle/>
          <a:p>
            <a:pPr algn="l"/>
            <a:r>
              <a:rPr sz="1200" b="0" i="1">
                <a:solidFill>
                  <a:srgbClr val="9BD1FF"/>
                </a:solidFill>
                <a:latin typeface="Calibri"/>
              </a:rPr>
              <a:t>Syntax · Dependencies · Paradigm · Memory</a:t>
            </a:r>
          </a:p>
        </p:txBody>
      </p:sp>
      <p:sp>
        <p:nvSpPr>
          <p:cNvPr id="7" name="TextBox 6"/>
          <p:cNvSpPr txBox="1"/>
          <p:nvPr/>
        </p:nvSpPr>
        <p:spPr>
          <a:xfrm>
            <a:off x="10789920" y="228600"/>
            <a:ext cx="1280160" cy="457200"/>
          </a:xfrm>
          <a:prstGeom prst="rect">
            <a:avLst/>
          </a:prstGeom>
          <a:noFill/>
        </p:spPr>
        <p:txBody>
          <a:bodyPr wrap="square" lIns="45720" rIns="45720" tIns="18288" bIns="18288" anchor="ctr">
            <a:spAutoFit/>
          </a:bodyPr>
          <a:lstStyle/>
          <a:p>
            <a:pPr algn="r"/>
            <a:r>
              <a:rPr sz="1100" b="0" i="0">
                <a:solidFill>
                  <a:srgbClr val="FFFFFF"/>
                </a:solidFill>
                <a:latin typeface="Calibri"/>
              </a:rPr>
              <a:t>CS516 · IAU</a:t>
            </a:r>
          </a:p>
        </p:txBody>
      </p:sp>
      <p:sp>
        <p:nvSpPr>
          <p:cNvPr id="8" name="Rectangle 7"/>
          <p:cNvSpPr/>
          <p:nvPr/>
        </p:nvSpPr>
        <p:spPr>
          <a:xfrm>
            <a:off x="548640" y="1234440"/>
            <a:ext cx="2103120" cy="5029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25880"/>
            <a:ext cx="2103120" cy="365760"/>
          </a:xfrm>
          <a:prstGeom prst="rect">
            <a:avLst/>
          </a:prstGeom>
          <a:noFill/>
        </p:spPr>
        <p:txBody>
          <a:bodyPr wrap="square" lIns="45720" rIns="45720" tIns="18288" bIns="18288" anchor="t">
            <a:spAutoFit/>
          </a:bodyPr>
          <a:lstStyle/>
          <a:p>
            <a:pPr algn="ctr"/>
            <a:r>
              <a:rPr sz="1500" b="1" i="0">
                <a:solidFill>
                  <a:srgbClr val="FFFFFF"/>
                </a:solidFill>
                <a:latin typeface="Calibri"/>
              </a:rPr>
              <a:t>Feature</a:t>
            </a:r>
          </a:p>
        </p:txBody>
      </p:sp>
      <p:sp>
        <p:nvSpPr>
          <p:cNvPr id="10" name="Rectangle 9"/>
          <p:cNvSpPr/>
          <p:nvPr/>
        </p:nvSpPr>
        <p:spPr>
          <a:xfrm>
            <a:off x="2651760" y="1234440"/>
            <a:ext cx="4434840"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51760" y="1325880"/>
            <a:ext cx="4434840" cy="365760"/>
          </a:xfrm>
          <a:prstGeom prst="rect">
            <a:avLst/>
          </a:prstGeom>
          <a:noFill/>
        </p:spPr>
        <p:txBody>
          <a:bodyPr wrap="square" lIns="45720" rIns="45720" tIns="18288" bIns="18288" anchor="t">
            <a:spAutoFit/>
          </a:bodyPr>
          <a:lstStyle/>
          <a:p>
            <a:pPr algn="ctr"/>
            <a:r>
              <a:rPr sz="1500" b="1" i="0">
                <a:solidFill>
                  <a:srgbClr val="FFFFFF"/>
                </a:solidFill>
                <a:latin typeface="Calibri"/>
              </a:rPr>
              <a:t>🐍 Python</a:t>
            </a:r>
          </a:p>
        </p:txBody>
      </p:sp>
      <p:sp>
        <p:nvSpPr>
          <p:cNvPr id="12" name="Rectangle 11"/>
          <p:cNvSpPr/>
          <p:nvPr/>
        </p:nvSpPr>
        <p:spPr>
          <a:xfrm>
            <a:off x="7086600" y="1234440"/>
            <a:ext cx="4434840" cy="502920"/>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86600" y="1325880"/>
            <a:ext cx="4434840" cy="365760"/>
          </a:xfrm>
          <a:prstGeom prst="rect">
            <a:avLst/>
          </a:prstGeom>
          <a:noFill/>
        </p:spPr>
        <p:txBody>
          <a:bodyPr wrap="square" lIns="45720" rIns="45720" tIns="18288" bIns="18288" anchor="t">
            <a:spAutoFit/>
          </a:bodyPr>
          <a:lstStyle/>
          <a:p>
            <a:pPr algn="ctr"/>
            <a:r>
              <a:rPr sz="1500" b="1" i="0">
                <a:solidFill>
                  <a:srgbClr val="FFFFFF"/>
                </a:solidFill>
                <a:latin typeface="Calibri"/>
              </a:rPr>
              <a:t>⚙️ C++</a:t>
            </a:r>
          </a:p>
        </p:txBody>
      </p:sp>
      <p:sp>
        <p:nvSpPr>
          <p:cNvPr id="14" name="Rectangle 13"/>
          <p:cNvSpPr/>
          <p:nvPr/>
        </p:nvSpPr>
        <p:spPr>
          <a:xfrm>
            <a:off x="548640" y="1737360"/>
            <a:ext cx="2103120" cy="1097280"/>
          </a:xfrm>
          <a:prstGeom prst="rect">
            <a:avLst/>
          </a:prstGeom>
          <a:solidFill>
            <a:srgbClr val="F4F6F8"/>
          </a:solidFill>
          <a:ln>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828800"/>
            <a:ext cx="1828800" cy="914400"/>
          </a:xfrm>
          <a:prstGeom prst="rect">
            <a:avLst/>
          </a:prstGeom>
          <a:noFill/>
        </p:spPr>
        <p:txBody>
          <a:bodyPr wrap="square" lIns="45720" rIns="45720" tIns="18288" bIns="18288" anchor="ctr">
            <a:spAutoFit/>
          </a:bodyPr>
          <a:lstStyle/>
          <a:p>
            <a:pPr algn="l"/>
            <a:r>
              <a:rPr sz="1300" b="1" i="0">
                <a:solidFill>
                  <a:srgbClr val="1F3A5F"/>
                </a:solidFill>
                <a:latin typeface="Calibri"/>
              </a:rPr>
              <a:t>Syntax</a:t>
            </a:r>
          </a:p>
        </p:txBody>
      </p:sp>
      <p:sp>
        <p:nvSpPr>
          <p:cNvPr id="16" name="Rectangle 15"/>
          <p:cNvSpPr/>
          <p:nvPr/>
        </p:nvSpPr>
        <p:spPr>
          <a:xfrm>
            <a:off x="2651760" y="1737360"/>
            <a:ext cx="4434840" cy="1097280"/>
          </a:xfrm>
          <a:prstGeom prst="rect">
            <a:avLst/>
          </a:prstGeom>
          <a:solidFill>
            <a:srgbClr val="F4F6F8"/>
          </a:solidFill>
          <a:ln>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88920" y="1828800"/>
            <a:ext cx="4160520" cy="914400"/>
          </a:xfrm>
          <a:prstGeom prst="rect">
            <a:avLst/>
          </a:prstGeom>
          <a:noFill/>
        </p:spPr>
        <p:txBody>
          <a:bodyPr wrap="square" lIns="45720" rIns="45720" tIns="18288" bIns="18288" anchor="ctr">
            <a:spAutoFit/>
          </a:bodyPr>
          <a:lstStyle/>
          <a:p>
            <a:pPr algn="l"/>
            <a:r>
              <a:rPr sz="1100" b="0" i="0">
                <a:solidFill>
                  <a:srgbClr val="1B2128"/>
                </a:solidFill>
                <a:latin typeface="Calibri"/>
              </a:rPr>
              <a:t>Indented blocks, no braces.</a:t>
            </a:r>
          </a:p>
          <a:p>
            <a:pPr algn="l"/>
            <a:r>
              <a:rPr sz="1100" b="0" i="0">
                <a:solidFill>
                  <a:srgbClr val="1B2128"/>
                </a:solidFill>
                <a:latin typeface="Calibri"/>
              </a:rPr>
              <a:t>Dynamic typing.</a:t>
            </a:r>
          </a:p>
          <a:p>
            <a:pPr algn="l"/>
            <a:r>
              <a:rPr sz="1100" b="0" i="0">
                <a:solidFill>
                  <a:srgbClr val="1B2128"/>
                </a:solidFill>
                <a:latin typeface="Calibri"/>
              </a:rPr>
              <a:t>print("hi")</a:t>
            </a:r>
          </a:p>
        </p:txBody>
      </p:sp>
      <p:sp>
        <p:nvSpPr>
          <p:cNvPr id="18" name="Rectangle 17"/>
          <p:cNvSpPr/>
          <p:nvPr/>
        </p:nvSpPr>
        <p:spPr>
          <a:xfrm>
            <a:off x="7086600" y="1737360"/>
            <a:ext cx="4434840" cy="1097280"/>
          </a:xfrm>
          <a:prstGeom prst="rect">
            <a:avLst/>
          </a:prstGeom>
          <a:solidFill>
            <a:srgbClr val="F4F6F8"/>
          </a:solidFill>
          <a:ln>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3760" y="1828800"/>
            <a:ext cx="4160520" cy="914400"/>
          </a:xfrm>
          <a:prstGeom prst="rect">
            <a:avLst/>
          </a:prstGeom>
          <a:noFill/>
        </p:spPr>
        <p:txBody>
          <a:bodyPr wrap="square" lIns="45720" rIns="45720" tIns="18288" bIns="18288" anchor="ctr">
            <a:spAutoFit/>
          </a:bodyPr>
          <a:lstStyle/>
          <a:p>
            <a:pPr algn="l"/>
            <a:r>
              <a:rPr sz="1100" b="0" i="0">
                <a:solidFill>
                  <a:srgbClr val="1B2128"/>
                </a:solidFill>
                <a:latin typeface="Calibri"/>
              </a:rPr>
              <a:t>Braces and semicolons.</a:t>
            </a:r>
          </a:p>
          <a:p>
            <a:pPr algn="l"/>
            <a:r>
              <a:rPr sz="1100" b="0" i="0">
                <a:solidFill>
                  <a:srgbClr val="1B2128"/>
                </a:solidFill>
                <a:latin typeface="Calibri"/>
              </a:rPr>
              <a:t>Static typing.</a:t>
            </a:r>
          </a:p>
          <a:p>
            <a:pPr algn="l"/>
            <a:r>
              <a:rPr sz="1100" b="0" i="0">
                <a:solidFill>
                  <a:srgbClr val="1B2128"/>
                </a:solidFill>
                <a:latin typeface="Calibri"/>
              </a:rPr>
              <a:t>std::cout &lt;&lt; "hi";</a:t>
            </a:r>
          </a:p>
        </p:txBody>
      </p:sp>
      <p:sp>
        <p:nvSpPr>
          <p:cNvPr id="20" name="Rectangle 19"/>
          <p:cNvSpPr/>
          <p:nvPr/>
        </p:nvSpPr>
        <p:spPr>
          <a:xfrm>
            <a:off x="548640" y="2834640"/>
            <a:ext cx="2103120" cy="1097280"/>
          </a:xfrm>
          <a:prstGeom prst="rect">
            <a:avLst/>
          </a:prstGeom>
          <a:solidFill>
            <a:srgbClr val="FFFFFF"/>
          </a:solidFill>
          <a:ln>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26080"/>
            <a:ext cx="1828800" cy="914400"/>
          </a:xfrm>
          <a:prstGeom prst="rect">
            <a:avLst/>
          </a:prstGeom>
          <a:noFill/>
        </p:spPr>
        <p:txBody>
          <a:bodyPr wrap="square" lIns="45720" rIns="45720" tIns="18288" bIns="18288" anchor="ctr">
            <a:spAutoFit/>
          </a:bodyPr>
          <a:lstStyle/>
          <a:p>
            <a:pPr algn="l"/>
            <a:r>
              <a:rPr sz="1300" b="1" i="0">
                <a:solidFill>
                  <a:srgbClr val="1F3A5F"/>
                </a:solidFill>
                <a:latin typeface="Calibri"/>
              </a:rPr>
              <a:t>Dependencies</a:t>
            </a:r>
          </a:p>
        </p:txBody>
      </p:sp>
      <p:sp>
        <p:nvSpPr>
          <p:cNvPr id="22" name="Rectangle 21"/>
          <p:cNvSpPr/>
          <p:nvPr/>
        </p:nvSpPr>
        <p:spPr>
          <a:xfrm>
            <a:off x="2651760" y="2834640"/>
            <a:ext cx="4434840" cy="1097280"/>
          </a:xfrm>
          <a:prstGeom prst="rect">
            <a:avLst/>
          </a:prstGeom>
          <a:solidFill>
            <a:srgbClr val="FFFFFF"/>
          </a:solidFill>
          <a:ln>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88920" y="2926080"/>
            <a:ext cx="4160520" cy="914400"/>
          </a:xfrm>
          <a:prstGeom prst="rect">
            <a:avLst/>
          </a:prstGeom>
          <a:noFill/>
        </p:spPr>
        <p:txBody>
          <a:bodyPr wrap="square" lIns="45720" rIns="45720" tIns="18288" bIns="18288" anchor="ctr">
            <a:spAutoFit/>
          </a:bodyPr>
          <a:lstStyle/>
          <a:p>
            <a:pPr algn="l"/>
            <a:r>
              <a:rPr sz="1100" b="0" i="0">
                <a:solidFill>
                  <a:srgbClr val="1B2128"/>
                </a:solidFill>
                <a:latin typeface="Calibri"/>
              </a:rPr>
              <a:t>Standard library only.</a:t>
            </a:r>
          </a:p>
          <a:p>
            <a:pPr algn="l"/>
            <a:r>
              <a:rPr sz="1100" b="0" i="0">
                <a:solidFill>
                  <a:srgbClr val="1B2128"/>
                </a:solidFill>
                <a:latin typeface="Calibri"/>
              </a:rPr>
              <a:t>tkinter, sqlite3, socket all bundled.</a:t>
            </a:r>
          </a:p>
        </p:txBody>
      </p:sp>
      <p:sp>
        <p:nvSpPr>
          <p:cNvPr id="24" name="Rectangle 23"/>
          <p:cNvSpPr/>
          <p:nvPr/>
        </p:nvSpPr>
        <p:spPr>
          <a:xfrm>
            <a:off x="7086600" y="2834640"/>
            <a:ext cx="4434840" cy="1097280"/>
          </a:xfrm>
          <a:prstGeom prst="rect">
            <a:avLst/>
          </a:prstGeom>
          <a:solidFill>
            <a:srgbClr val="FFFFFF"/>
          </a:solidFill>
          <a:ln>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23760" y="2926080"/>
            <a:ext cx="4160520" cy="914400"/>
          </a:xfrm>
          <a:prstGeom prst="rect">
            <a:avLst/>
          </a:prstGeom>
          <a:noFill/>
        </p:spPr>
        <p:txBody>
          <a:bodyPr wrap="square" lIns="45720" rIns="45720" tIns="18288" bIns="18288" anchor="ctr">
            <a:spAutoFit/>
          </a:bodyPr>
          <a:lstStyle/>
          <a:p>
            <a:pPr algn="l"/>
            <a:r>
              <a:rPr sz="1100" b="0" i="0">
                <a:solidFill>
                  <a:srgbClr val="1B2128"/>
                </a:solidFill>
                <a:latin typeface="Calibri"/>
              </a:rPr>
              <a:t>Requires C++17 compiler</a:t>
            </a:r>
          </a:p>
          <a:p>
            <a:pPr algn="l"/>
            <a:r>
              <a:rPr sz="1100" b="0" i="0">
                <a:solidFill>
                  <a:srgbClr val="1B2128"/>
                </a:solidFill>
                <a:latin typeface="Calibri"/>
              </a:rPr>
              <a:t>+ ws2_32 (Winsock) on Windows.</a:t>
            </a:r>
          </a:p>
        </p:txBody>
      </p:sp>
      <p:sp>
        <p:nvSpPr>
          <p:cNvPr id="26" name="Rectangle 25"/>
          <p:cNvSpPr/>
          <p:nvPr/>
        </p:nvSpPr>
        <p:spPr>
          <a:xfrm>
            <a:off x="548640" y="3931920"/>
            <a:ext cx="2103120" cy="1097280"/>
          </a:xfrm>
          <a:prstGeom prst="rect">
            <a:avLst/>
          </a:prstGeom>
          <a:solidFill>
            <a:srgbClr val="F4F6F8"/>
          </a:solidFill>
          <a:ln>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023360"/>
            <a:ext cx="1828800" cy="914400"/>
          </a:xfrm>
          <a:prstGeom prst="rect">
            <a:avLst/>
          </a:prstGeom>
          <a:noFill/>
        </p:spPr>
        <p:txBody>
          <a:bodyPr wrap="square" lIns="45720" rIns="45720" tIns="18288" bIns="18288" anchor="ctr">
            <a:spAutoFit/>
          </a:bodyPr>
          <a:lstStyle/>
          <a:p>
            <a:pPr algn="l"/>
            <a:r>
              <a:rPr sz="1300" b="1" i="0">
                <a:solidFill>
                  <a:srgbClr val="1F3A5F"/>
                </a:solidFill>
                <a:latin typeface="Calibri"/>
              </a:rPr>
              <a:t>Paradigm</a:t>
            </a:r>
          </a:p>
        </p:txBody>
      </p:sp>
      <p:sp>
        <p:nvSpPr>
          <p:cNvPr id="28" name="Rectangle 27"/>
          <p:cNvSpPr/>
          <p:nvPr/>
        </p:nvSpPr>
        <p:spPr>
          <a:xfrm>
            <a:off x="2651760" y="3931920"/>
            <a:ext cx="4434840" cy="1097280"/>
          </a:xfrm>
          <a:prstGeom prst="rect">
            <a:avLst/>
          </a:prstGeom>
          <a:solidFill>
            <a:srgbClr val="F4F6F8"/>
          </a:solidFill>
          <a:ln>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88920" y="4023360"/>
            <a:ext cx="4160520" cy="914400"/>
          </a:xfrm>
          <a:prstGeom prst="rect">
            <a:avLst/>
          </a:prstGeom>
          <a:noFill/>
        </p:spPr>
        <p:txBody>
          <a:bodyPr wrap="square" lIns="45720" rIns="45720" tIns="18288" bIns="18288" anchor="ctr">
            <a:spAutoFit/>
          </a:bodyPr>
          <a:lstStyle/>
          <a:p>
            <a:pPr algn="l"/>
            <a:r>
              <a:rPr sz="1100" b="0" i="0">
                <a:solidFill>
                  <a:srgbClr val="1B2128"/>
                </a:solidFill>
                <a:latin typeface="Calibri"/>
              </a:rPr>
              <a:t>Multi-paradigm: procedural,</a:t>
            </a:r>
          </a:p>
          <a:p>
            <a:pPr algn="l"/>
            <a:r>
              <a:rPr sz="1100" b="0" i="0">
                <a:solidFill>
                  <a:srgbClr val="1B2128"/>
                </a:solidFill>
                <a:latin typeface="Calibri"/>
              </a:rPr>
              <a:t>OOP, and functional all welcome.</a:t>
            </a:r>
          </a:p>
        </p:txBody>
      </p:sp>
      <p:sp>
        <p:nvSpPr>
          <p:cNvPr id="30" name="Rectangle 29"/>
          <p:cNvSpPr/>
          <p:nvPr/>
        </p:nvSpPr>
        <p:spPr>
          <a:xfrm>
            <a:off x="7086600" y="3931920"/>
            <a:ext cx="4434840" cy="1097280"/>
          </a:xfrm>
          <a:prstGeom prst="rect">
            <a:avLst/>
          </a:prstGeom>
          <a:solidFill>
            <a:srgbClr val="F4F6F8"/>
          </a:solidFill>
          <a:ln>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3760" y="4023360"/>
            <a:ext cx="4160520" cy="914400"/>
          </a:xfrm>
          <a:prstGeom prst="rect">
            <a:avLst/>
          </a:prstGeom>
          <a:noFill/>
        </p:spPr>
        <p:txBody>
          <a:bodyPr wrap="square" lIns="45720" rIns="45720" tIns="18288" bIns="18288" anchor="ctr">
            <a:spAutoFit/>
          </a:bodyPr>
          <a:lstStyle/>
          <a:p>
            <a:pPr algn="l"/>
            <a:r>
              <a:rPr sz="1100" b="0" i="0">
                <a:solidFill>
                  <a:srgbClr val="1B2128"/>
                </a:solidFill>
                <a:latin typeface="Calibri"/>
              </a:rPr>
              <a:t>OOP + procedural primary;</a:t>
            </a:r>
          </a:p>
          <a:p>
            <a:pPr algn="l"/>
            <a:r>
              <a:rPr sz="1100" b="0" i="0">
                <a:solidFill>
                  <a:srgbClr val="1B2128"/>
                </a:solidFill>
                <a:latin typeface="Calibri"/>
              </a:rPr>
              <a:t>generic programming via templates.</a:t>
            </a:r>
          </a:p>
        </p:txBody>
      </p:sp>
      <p:sp>
        <p:nvSpPr>
          <p:cNvPr id="32" name="Rectangle 31"/>
          <p:cNvSpPr/>
          <p:nvPr/>
        </p:nvSpPr>
        <p:spPr>
          <a:xfrm>
            <a:off x="548640" y="5029200"/>
            <a:ext cx="2103120" cy="1097280"/>
          </a:xfrm>
          <a:prstGeom prst="rect">
            <a:avLst/>
          </a:prstGeom>
          <a:solidFill>
            <a:srgbClr val="FFFFFF"/>
          </a:solidFill>
          <a:ln>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120640"/>
            <a:ext cx="1828800" cy="914400"/>
          </a:xfrm>
          <a:prstGeom prst="rect">
            <a:avLst/>
          </a:prstGeom>
          <a:noFill/>
        </p:spPr>
        <p:txBody>
          <a:bodyPr wrap="square" lIns="45720" rIns="45720" tIns="18288" bIns="18288" anchor="ctr">
            <a:spAutoFit/>
          </a:bodyPr>
          <a:lstStyle/>
          <a:p>
            <a:pPr algn="l"/>
            <a:r>
              <a:rPr sz="1300" b="1" i="0">
                <a:solidFill>
                  <a:srgbClr val="1F3A5F"/>
                </a:solidFill>
                <a:latin typeface="Calibri"/>
              </a:rPr>
              <a:t>Memory</a:t>
            </a:r>
          </a:p>
        </p:txBody>
      </p:sp>
      <p:sp>
        <p:nvSpPr>
          <p:cNvPr id="34" name="Rectangle 33"/>
          <p:cNvSpPr/>
          <p:nvPr/>
        </p:nvSpPr>
        <p:spPr>
          <a:xfrm>
            <a:off x="2651760" y="5029200"/>
            <a:ext cx="4434840" cy="1097280"/>
          </a:xfrm>
          <a:prstGeom prst="rect">
            <a:avLst/>
          </a:prstGeom>
          <a:solidFill>
            <a:srgbClr val="FFFFFF"/>
          </a:solidFill>
          <a:ln>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88920" y="5120640"/>
            <a:ext cx="4160520" cy="914400"/>
          </a:xfrm>
          <a:prstGeom prst="rect">
            <a:avLst/>
          </a:prstGeom>
          <a:noFill/>
        </p:spPr>
        <p:txBody>
          <a:bodyPr wrap="square" lIns="45720" rIns="45720" tIns="18288" bIns="18288" anchor="ctr">
            <a:spAutoFit/>
          </a:bodyPr>
          <a:lstStyle/>
          <a:p>
            <a:pPr algn="l"/>
            <a:r>
              <a:rPr sz="1100" b="0" i="0">
                <a:solidFill>
                  <a:srgbClr val="1B2128"/>
                </a:solidFill>
                <a:latin typeface="Calibri"/>
              </a:rPr>
              <a:t>Automatic — reference counting</a:t>
            </a:r>
          </a:p>
          <a:p>
            <a:pPr algn="l"/>
            <a:r>
              <a:rPr sz="1100" b="0" i="0">
                <a:solidFill>
                  <a:srgbClr val="1B2128"/>
                </a:solidFill>
                <a:latin typeface="Calibri"/>
              </a:rPr>
              <a:t>+ cyclic GC. Developer never frees.</a:t>
            </a:r>
          </a:p>
        </p:txBody>
      </p:sp>
      <p:sp>
        <p:nvSpPr>
          <p:cNvPr id="36" name="Rectangle 35"/>
          <p:cNvSpPr/>
          <p:nvPr/>
        </p:nvSpPr>
        <p:spPr>
          <a:xfrm>
            <a:off x="7086600" y="5029200"/>
            <a:ext cx="4434840" cy="1097280"/>
          </a:xfrm>
          <a:prstGeom prst="rect">
            <a:avLst/>
          </a:prstGeom>
          <a:solidFill>
            <a:srgbClr val="FFFFFF"/>
          </a:solidFill>
          <a:ln>
            <a:solidFill>
              <a:srgbClr val="E0E5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23760" y="5120640"/>
            <a:ext cx="4160520" cy="914400"/>
          </a:xfrm>
          <a:prstGeom prst="rect">
            <a:avLst/>
          </a:prstGeom>
          <a:noFill/>
        </p:spPr>
        <p:txBody>
          <a:bodyPr wrap="square" lIns="45720" rIns="45720" tIns="18288" bIns="18288" anchor="ctr">
            <a:spAutoFit/>
          </a:bodyPr>
          <a:lstStyle/>
          <a:p>
            <a:pPr algn="l"/>
            <a:r>
              <a:rPr sz="1100" b="0" i="0">
                <a:solidFill>
                  <a:srgbClr val="1B2128"/>
                </a:solidFill>
                <a:latin typeface="Calibri"/>
              </a:rPr>
              <a:t>Manual but rescued by RAII</a:t>
            </a:r>
          </a:p>
          <a:p>
            <a:pPr algn="l"/>
            <a:r>
              <a:rPr sz="1100" b="0" i="0">
                <a:solidFill>
                  <a:srgbClr val="1B2128"/>
                </a:solidFill>
                <a:latin typeface="Calibri"/>
              </a:rPr>
              <a:t>(std::string, std::vector free in scope).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68680"/>
            <a:ext cx="12191695" cy="36576"/>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9144000" cy="548640"/>
          </a:xfrm>
          <a:prstGeom prst="rect">
            <a:avLst/>
          </a:prstGeom>
          <a:noFill/>
        </p:spPr>
        <p:txBody>
          <a:bodyPr wrap="square" lIns="45720" rIns="45720" tIns="18288" bIns="18288" anchor="ctr">
            <a:spAutoFit/>
          </a:bodyPr>
          <a:lstStyle/>
          <a:p>
            <a:pPr algn="l"/>
            <a:r>
              <a:rPr sz="2800" b="1" i="0">
                <a:solidFill>
                  <a:srgbClr val="FFFFFF"/>
                </a:solidFill>
                <a:latin typeface="Calibri"/>
              </a:rPr>
              <a:t>Comparison — Part 2</a:t>
            </a:r>
          </a:p>
        </p:txBody>
      </p:sp>
      <p:sp>
        <p:nvSpPr>
          <p:cNvPr id="6" name="TextBox 5"/>
          <p:cNvSpPr txBox="1"/>
          <p:nvPr/>
        </p:nvSpPr>
        <p:spPr>
          <a:xfrm>
            <a:off x="457200" y="502920"/>
            <a:ext cx="9144000" cy="365760"/>
          </a:xfrm>
          <a:prstGeom prst="rect">
            <a:avLst/>
          </a:prstGeom>
          <a:noFill/>
        </p:spPr>
        <p:txBody>
          <a:bodyPr wrap="square" lIns="45720" rIns="45720" tIns="18288" bIns="18288" anchor="t">
            <a:spAutoFit/>
          </a:bodyPr>
          <a:lstStyle/>
          <a:p>
            <a:pPr algn="l"/>
            <a:r>
              <a:rPr sz="1200" b="0" i="1">
                <a:solidFill>
                  <a:srgbClr val="9BD1FF"/>
                </a:solidFill>
                <a:latin typeface="Calibri"/>
              </a:rPr>
              <a:t>Same function, two languages</a:t>
            </a:r>
          </a:p>
        </p:txBody>
      </p:sp>
      <p:sp>
        <p:nvSpPr>
          <p:cNvPr id="7" name="TextBox 6"/>
          <p:cNvSpPr txBox="1"/>
          <p:nvPr/>
        </p:nvSpPr>
        <p:spPr>
          <a:xfrm>
            <a:off x="10789920" y="228600"/>
            <a:ext cx="1280160" cy="457200"/>
          </a:xfrm>
          <a:prstGeom prst="rect">
            <a:avLst/>
          </a:prstGeom>
          <a:noFill/>
        </p:spPr>
        <p:txBody>
          <a:bodyPr wrap="square" lIns="45720" rIns="45720" tIns="18288" bIns="18288" anchor="ctr">
            <a:spAutoFit/>
          </a:bodyPr>
          <a:lstStyle/>
          <a:p>
            <a:pPr algn="r"/>
            <a:r>
              <a:rPr sz="1100" b="0" i="0">
                <a:solidFill>
                  <a:srgbClr val="FFFFFF"/>
                </a:solidFill>
                <a:latin typeface="Calibri"/>
              </a:rPr>
              <a:t>CS516 · IAU</a:t>
            </a:r>
          </a:p>
        </p:txBody>
      </p:sp>
      <p:sp>
        <p:nvSpPr>
          <p:cNvPr id="8" name="TextBox 7"/>
          <p:cNvSpPr txBox="1"/>
          <p:nvPr/>
        </p:nvSpPr>
        <p:spPr>
          <a:xfrm>
            <a:off x="548640" y="1143000"/>
            <a:ext cx="11064240" cy="365760"/>
          </a:xfrm>
          <a:prstGeom prst="rect">
            <a:avLst/>
          </a:prstGeom>
          <a:noFill/>
        </p:spPr>
        <p:txBody>
          <a:bodyPr wrap="square" lIns="45720" rIns="45720" tIns="18288" bIns="18288" anchor="t">
            <a:spAutoFit/>
          </a:bodyPr>
          <a:lstStyle/>
          <a:p>
            <a:pPr algn="l"/>
            <a:r>
              <a:rPr sz="1500" b="1" i="0">
                <a:solidFill>
                  <a:srgbClr val="1F3A5F"/>
                </a:solidFill>
                <a:latin typeface="Calibri"/>
              </a:rPr>
              <a:t>Function: Add a Student   (validation + persistence)</a:t>
            </a:r>
          </a:p>
        </p:txBody>
      </p:sp>
      <p:sp>
        <p:nvSpPr>
          <p:cNvPr id="9" name="Rectangle 8"/>
          <p:cNvSpPr/>
          <p:nvPr/>
        </p:nvSpPr>
        <p:spPr>
          <a:xfrm>
            <a:off x="548640" y="1600200"/>
            <a:ext cx="5532120" cy="2286000"/>
          </a:xfrm>
          <a:prstGeom prst="rect">
            <a:avLst/>
          </a:prstGeom>
          <a:solidFill>
            <a:srgbClr val="12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00200"/>
            <a:ext cx="5532120"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627632"/>
            <a:ext cx="4572000" cy="274320"/>
          </a:xfrm>
          <a:prstGeom prst="rect">
            <a:avLst/>
          </a:prstGeom>
          <a:noFill/>
        </p:spPr>
        <p:txBody>
          <a:bodyPr wrap="square" lIns="45720" rIns="45720" tIns="18288" bIns="18288" anchor="t">
            <a:spAutoFit/>
          </a:bodyPr>
          <a:lstStyle/>
          <a:p>
            <a:pPr algn="l"/>
            <a:r>
              <a:rPr sz="1000" b="1" i="0">
                <a:solidFill>
                  <a:srgbClr val="FFFFFF"/>
                </a:solidFill>
                <a:latin typeface="Calibri"/>
              </a:rPr>
              <a:t>🐍 Python  ·  server.py</a:t>
            </a:r>
          </a:p>
        </p:txBody>
      </p:sp>
      <p:sp>
        <p:nvSpPr>
          <p:cNvPr id="12" name="TextBox 11"/>
          <p:cNvSpPr txBox="1"/>
          <p:nvPr/>
        </p:nvSpPr>
        <p:spPr>
          <a:xfrm>
            <a:off x="685800" y="1965960"/>
            <a:ext cx="5303520" cy="1828800"/>
          </a:xfrm>
          <a:prstGeom prst="rect">
            <a:avLst/>
          </a:prstGeom>
          <a:noFill/>
        </p:spPr>
        <p:txBody>
          <a:bodyPr wrap="square" lIns="45720" rIns="45720" tIns="18288" bIns="18288" anchor="t">
            <a:spAutoFit/>
          </a:bodyPr>
          <a:lstStyle/>
          <a:p>
            <a:pPr algn="l"/>
            <a:r>
              <a:rPr sz="1100" b="0" i="0">
                <a:solidFill>
                  <a:srgbClr val="E0E8F4"/>
                </a:solidFill>
                <a:latin typeface="Consolas"/>
              </a:rPr>
              <a:t>if not is_valid_id(p['student_id']):</a:t>
            </a:r>
          </a:p>
          <a:p>
            <a:pPr algn="l"/>
            <a:r>
              <a:rPr sz="1100" b="0" i="0">
                <a:solidFill>
                  <a:srgbClr val="E0E8F4"/>
                </a:solidFill>
                <a:latin typeface="Consolas"/>
              </a:rPr>
              <a:t>    return {'ok': False,</a:t>
            </a:r>
          </a:p>
          <a:p>
            <a:pPr algn="l"/>
            <a:r>
              <a:rPr sz="1100" b="0" i="0">
                <a:solidFill>
                  <a:srgbClr val="E0E8F4"/>
                </a:solidFill>
                <a:latin typeface="Consolas"/>
              </a:rPr>
              <a:t>            'error': 'Student ID must be 10 digits'}</a:t>
            </a:r>
          </a:p>
          <a:p>
            <a:pPr algn="l"/>
            <a:r>
              <a:rPr sz="1100" b="0" i="0">
                <a:solidFill>
                  <a:srgbClr val="E0E8F4"/>
                </a:solidFill>
                <a:latin typeface="Consolas"/>
              </a:rPr>
              <a:t>conn.execute(</a:t>
            </a:r>
          </a:p>
          <a:p>
            <a:pPr algn="l"/>
            <a:r>
              <a:rPr sz="1100" b="0" i="0">
                <a:solidFill>
                  <a:srgbClr val="E0E8F4"/>
                </a:solidFill>
                <a:latin typeface="Consolas"/>
              </a:rPr>
              <a:t>  "INSERT INTO students(...) VALUES(?,?,?,?,?,?)",</a:t>
            </a:r>
          </a:p>
          <a:p>
            <a:pPr algn="l"/>
            <a:r>
              <a:rPr sz="1100" b="0" i="0">
                <a:solidFill>
                  <a:srgbClr val="E0E8F4"/>
                </a:solidFill>
                <a:latin typeface="Consolas"/>
              </a:rPr>
              <a:t>  (sid, name, email, phone, major, level))</a:t>
            </a:r>
          </a:p>
          <a:p>
            <a:pPr algn="l"/>
            <a:r>
              <a:rPr sz="1100" b="0" i="0">
                <a:solidFill>
                  <a:srgbClr val="E0E8F4"/>
                </a:solidFill>
                <a:latin typeface="Consolas"/>
              </a:rPr>
              <a:t>conn.commit()</a:t>
            </a:r>
          </a:p>
          <a:p>
            <a:pPr algn="l"/>
            <a:r>
              <a:rPr sz="1100" b="0" i="0">
                <a:solidFill>
                  <a:srgbClr val="E0E8F4"/>
                </a:solidFill>
                <a:latin typeface="Consolas"/>
              </a:rPr>
              <a:t>return {'ok': True}</a:t>
            </a:r>
          </a:p>
        </p:txBody>
      </p:sp>
      <p:sp>
        <p:nvSpPr>
          <p:cNvPr id="13" name="Rectangle 12"/>
          <p:cNvSpPr/>
          <p:nvPr/>
        </p:nvSpPr>
        <p:spPr>
          <a:xfrm>
            <a:off x="6263640" y="1600200"/>
            <a:ext cx="5532120" cy="2286000"/>
          </a:xfrm>
          <a:prstGeom prst="rect">
            <a:avLst/>
          </a:prstGeom>
          <a:solidFill>
            <a:srgbClr val="12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600200"/>
            <a:ext cx="5532120" cy="292608"/>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627632"/>
            <a:ext cx="4572000" cy="274320"/>
          </a:xfrm>
          <a:prstGeom prst="rect">
            <a:avLst/>
          </a:prstGeom>
          <a:noFill/>
        </p:spPr>
        <p:txBody>
          <a:bodyPr wrap="square" lIns="45720" rIns="45720" tIns="18288" bIns="18288" anchor="t">
            <a:spAutoFit/>
          </a:bodyPr>
          <a:lstStyle/>
          <a:p>
            <a:pPr algn="l"/>
            <a:r>
              <a:rPr sz="1000" b="1" i="0">
                <a:solidFill>
                  <a:srgbClr val="FFFFFF"/>
                </a:solidFill>
                <a:latin typeface="Calibri"/>
              </a:rPr>
              <a:t>⚙️ C++  ·  server.cpp</a:t>
            </a:r>
          </a:p>
        </p:txBody>
      </p:sp>
      <p:sp>
        <p:nvSpPr>
          <p:cNvPr id="16" name="TextBox 15"/>
          <p:cNvSpPr txBox="1"/>
          <p:nvPr/>
        </p:nvSpPr>
        <p:spPr>
          <a:xfrm>
            <a:off x="6400800" y="1965960"/>
            <a:ext cx="5303520" cy="1828800"/>
          </a:xfrm>
          <a:prstGeom prst="rect">
            <a:avLst/>
          </a:prstGeom>
          <a:noFill/>
        </p:spPr>
        <p:txBody>
          <a:bodyPr wrap="square" lIns="45720" rIns="45720" tIns="18288" bIns="18288" anchor="t">
            <a:spAutoFit/>
          </a:bodyPr>
          <a:lstStyle/>
          <a:p>
            <a:pPr algn="l"/>
            <a:r>
              <a:rPr sz="1100" b="0" i="0">
                <a:solidFill>
                  <a:srgbClr val="E0E8F4"/>
                </a:solidFill>
                <a:latin typeface="Consolas"/>
              </a:rPr>
              <a:t>if (!validId(sid))</a:t>
            </a:r>
          </a:p>
          <a:p>
            <a:pPr algn="l"/>
            <a:r>
              <a:rPr sz="1100" b="0" i="0">
                <a:solidFill>
                  <a:srgbClr val="E0E8F4"/>
                </a:solidFill>
                <a:latin typeface="Consolas"/>
              </a:rPr>
              <a:t>    return err("Student ID must be 10 digits");</a:t>
            </a:r>
          </a:p>
          <a:p>
            <a:pPr algn="l"/>
            <a:r>
              <a:rPr sz="1100" b="0" i="0">
                <a:solidFill>
                  <a:srgbClr val="E0E8F4"/>
                </a:solidFill>
                <a:latin typeface="Consolas"/>
              </a:rPr>
              <a:t>auto e = students_.add(</a:t>
            </a:r>
          </a:p>
          <a:p>
            <a:pPr algn="l"/>
            <a:r>
              <a:rPr sz="1100" b="0" i="0">
                <a:solidFill>
                  <a:srgbClr val="E0E8F4"/>
                </a:solidFill>
                <a:latin typeface="Consolas"/>
              </a:rPr>
              <a:t>    {sid, name, email, phone, major, level});</a:t>
            </a:r>
          </a:p>
          <a:p>
            <a:pPr algn="l"/>
            <a:r>
              <a:rPr sz="1100" b="0" i="0">
                <a:solidFill>
                  <a:srgbClr val="E0E8F4"/>
                </a:solidFill>
                <a:latin typeface="Consolas"/>
              </a:rPr>
              <a:t>if (!e.empty()) return err(e);</a:t>
            </a:r>
          </a:p>
          <a:p>
            <a:pPr algn="l"/>
            <a:r>
              <a:rPr sz="1100" b="0" i="0">
                <a:solidFill>
                  <a:srgbClr val="E0E8F4"/>
                </a:solidFill>
                <a:latin typeface="Consolas"/>
              </a:rPr>
              <a:t>return ok();</a:t>
            </a:r>
          </a:p>
          <a:p>
            <a:pPr algn="l"/>
            <a:r>
              <a:rPr sz="1100" b="0" i="0">
                <a:solidFill>
                  <a:srgbClr val="E0E8F4"/>
                </a:solidFill>
                <a:latin typeface="Consolas"/>
              </a:rPr>
              <a:t>// repository writes a TAB-separated row</a:t>
            </a:r>
          </a:p>
          <a:p>
            <a:pPr algn="l"/>
            <a:r>
              <a:rPr sz="1100" b="0" i="0">
                <a:solidFill>
                  <a:srgbClr val="E0E8F4"/>
                </a:solidFill>
                <a:latin typeface="Consolas"/>
              </a:rPr>
              <a:t>// to data/students.txt</a:t>
            </a:r>
          </a:p>
        </p:txBody>
      </p:sp>
      <p:sp>
        <p:nvSpPr>
          <p:cNvPr id="17" name="TextBox 16"/>
          <p:cNvSpPr txBox="1"/>
          <p:nvPr/>
        </p:nvSpPr>
        <p:spPr>
          <a:xfrm>
            <a:off x="548640" y="4023360"/>
            <a:ext cx="11064240" cy="365760"/>
          </a:xfrm>
          <a:prstGeom prst="rect">
            <a:avLst/>
          </a:prstGeom>
          <a:noFill/>
        </p:spPr>
        <p:txBody>
          <a:bodyPr wrap="square" lIns="45720" rIns="45720" tIns="18288" bIns="18288" anchor="t">
            <a:spAutoFit/>
          </a:bodyPr>
          <a:lstStyle/>
          <a:p>
            <a:pPr algn="l"/>
            <a:r>
              <a:rPr sz="1500" b="1" i="0">
                <a:solidFill>
                  <a:srgbClr val="1F3A5F"/>
                </a:solidFill>
                <a:latin typeface="Calibri"/>
              </a:rPr>
              <a:t>Function: Per-course Attendance Summary</a:t>
            </a:r>
          </a:p>
        </p:txBody>
      </p:sp>
      <p:sp>
        <p:nvSpPr>
          <p:cNvPr id="18" name="Rectangle 17"/>
          <p:cNvSpPr/>
          <p:nvPr/>
        </p:nvSpPr>
        <p:spPr>
          <a:xfrm>
            <a:off x="548640" y="4480560"/>
            <a:ext cx="5532120" cy="2011680"/>
          </a:xfrm>
          <a:prstGeom prst="rect">
            <a:avLst/>
          </a:prstGeom>
          <a:solidFill>
            <a:srgbClr val="12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480560"/>
            <a:ext cx="5532120"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507992"/>
            <a:ext cx="4572000" cy="274320"/>
          </a:xfrm>
          <a:prstGeom prst="rect">
            <a:avLst/>
          </a:prstGeom>
          <a:noFill/>
        </p:spPr>
        <p:txBody>
          <a:bodyPr wrap="square" lIns="45720" rIns="45720" tIns="18288" bIns="18288" anchor="t">
            <a:spAutoFit/>
          </a:bodyPr>
          <a:lstStyle/>
          <a:p>
            <a:pPr algn="l"/>
            <a:r>
              <a:rPr sz="1000" b="1" i="0">
                <a:solidFill>
                  <a:srgbClr val="FFFFFF"/>
                </a:solidFill>
                <a:latin typeface="Calibri"/>
              </a:rPr>
              <a:t>🐍 Python  ·  one SQL query</a:t>
            </a:r>
          </a:p>
        </p:txBody>
      </p:sp>
      <p:sp>
        <p:nvSpPr>
          <p:cNvPr id="21" name="TextBox 20"/>
          <p:cNvSpPr txBox="1"/>
          <p:nvPr/>
        </p:nvSpPr>
        <p:spPr>
          <a:xfrm>
            <a:off x="685800" y="4846320"/>
            <a:ext cx="5303520" cy="1600200"/>
          </a:xfrm>
          <a:prstGeom prst="rect">
            <a:avLst/>
          </a:prstGeom>
          <a:noFill/>
        </p:spPr>
        <p:txBody>
          <a:bodyPr wrap="square" lIns="45720" rIns="45720" tIns="18288" bIns="18288" anchor="t">
            <a:spAutoFit/>
          </a:bodyPr>
          <a:lstStyle/>
          <a:p>
            <a:pPr algn="l"/>
            <a:r>
              <a:rPr sz="1100" b="0" i="0">
                <a:solidFill>
                  <a:srgbClr val="E0E8F4"/>
                </a:solidFill>
                <a:latin typeface="Consolas"/>
              </a:rPr>
              <a:t>SELECT student_id, name,</a:t>
            </a:r>
          </a:p>
          <a:p>
            <a:pPr algn="l"/>
            <a:r>
              <a:rPr sz="1100" b="0" i="0">
                <a:solidFill>
                  <a:srgbClr val="E0E8F4"/>
                </a:solidFill>
                <a:latin typeface="Consolas"/>
              </a:rPr>
              <a:t>  SUM(status='Present') AS present_count,</a:t>
            </a:r>
          </a:p>
          <a:p>
            <a:pPr algn="l"/>
            <a:r>
              <a:rPr sz="1100" b="0" i="0">
                <a:solidFill>
                  <a:srgbClr val="E0E8F4"/>
                </a:solidFill>
                <a:latin typeface="Consolas"/>
              </a:rPr>
              <a:t>  SUM(status='Absent')  AS absent_count</a:t>
            </a:r>
          </a:p>
          <a:p>
            <a:pPr algn="l"/>
            <a:r>
              <a:rPr sz="1100" b="0" i="0">
                <a:solidFill>
                  <a:srgbClr val="E0E8F4"/>
                </a:solidFill>
                <a:latin typeface="Consolas"/>
              </a:rPr>
              <a:t>FROM attendance JOIN students USING(student_id)</a:t>
            </a:r>
          </a:p>
          <a:p>
            <a:pPr algn="l"/>
            <a:r>
              <a:rPr sz="1100" b="0" i="0">
                <a:solidFill>
                  <a:srgbClr val="E0E8F4"/>
                </a:solidFill>
                <a:latin typeface="Consolas"/>
              </a:rPr>
              <a:t>WHERE course_code = ?</a:t>
            </a:r>
          </a:p>
          <a:p>
            <a:pPr algn="l"/>
            <a:r>
              <a:rPr sz="1100" b="0" i="0">
                <a:solidFill>
                  <a:srgbClr val="E0E8F4"/>
                </a:solidFill>
                <a:latin typeface="Consolas"/>
              </a:rPr>
              <a:t>GROUP BY student_id;</a:t>
            </a:r>
          </a:p>
        </p:txBody>
      </p:sp>
      <p:sp>
        <p:nvSpPr>
          <p:cNvPr id="22" name="Rectangle 21"/>
          <p:cNvSpPr/>
          <p:nvPr/>
        </p:nvSpPr>
        <p:spPr>
          <a:xfrm>
            <a:off x="6263640" y="4480560"/>
            <a:ext cx="5532120" cy="2011680"/>
          </a:xfrm>
          <a:prstGeom prst="rect">
            <a:avLst/>
          </a:prstGeom>
          <a:solidFill>
            <a:srgbClr val="12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4480560"/>
            <a:ext cx="5532120" cy="292608"/>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4507992"/>
            <a:ext cx="4572000" cy="274320"/>
          </a:xfrm>
          <a:prstGeom prst="rect">
            <a:avLst/>
          </a:prstGeom>
          <a:noFill/>
        </p:spPr>
        <p:txBody>
          <a:bodyPr wrap="square" lIns="45720" rIns="45720" tIns="18288" bIns="18288" anchor="t">
            <a:spAutoFit/>
          </a:bodyPr>
          <a:lstStyle/>
          <a:p>
            <a:pPr algn="l"/>
            <a:r>
              <a:rPr sz="1000" b="1" i="0">
                <a:solidFill>
                  <a:srgbClr val="FFFFFF"/>
                </a:solidFill>
                <a:latin typeface="Calibri"/>
              </a:rPr>
              <a:t>⚙️ C++  ·  manual aggregation</a:t>
            </a:r>
          </a:p>
        </p:txBody>
      </p:sp>
      <p:sp>
        <p:nvSpPr>
          <p:cNvPr id="25" name="TextBox 24"/>
          <p:cNvSpPr txBox="1"/>
          <p:nvPr/>
        </p:nvSpPr>
        <p:spPr>
          <a:xfrm>
            <a:off x="6400800" y="4846320"/>
            <a:ext cx="5303520" cy="1600200"/>
          </a:xfrm>
          <a:prstGeom prst="rect">
            <a:avLst/>
          </a:prstGeom>
          <a:noFill/>
        </p:spPr>
        <p:txBody>
          <a:bodyPr wrap="square" lIns="45720" rIns="45720" tIns="18288" bIns="18288" anchor="t">
            <a:spAutoFit/>
          </a:bodyPr>
          <a:lstStyle/>
          <a:p>
            <a:pPr algn="l"/>
            <a:r>
              <a:rPr sz="1100" b="0" i="0">
                <a:solidFill>
                  <a:srgbClr val="E0E8F4"/>
                </a:solidFill>
                <a:latin typeface="Consolas"/>
              </a:rPr>
              <a:t>map&lt;string, pair&lt;int,int&gt;&gt; counts;</a:t>
            </a:r>
          </a:p>
          <a:p>
            <a:pPr algn="l"/>
            <a:r>
              <a:rPr sz="1100" b="0" i="0">
                <a:solidFill>
                  <a:srgbClr val="E0E8F4"/>
                </a:solidFill>
                <a:latin typeface="Consolas"/>
              </a:rPr>
              <a:t>for (auto&amp; row : attendance_.all()) {</a:t>
            </a:r>
          </a:p>
          <a:p>
            <a:pPr algn="l"/>
            <a:r>
              <a:rPr sz="1100" b="0" i="0">
                <a:solidFill>
                  <a:srgbClr val="E0E8F4"/>
                </a:solidFill>
                <a:latin typeface="Consolas"/>
              </a:rPr>
              <a:t>  if (row[1] != code) continue;</a:t>
            </a:r>
          </a:p>
          <a:p>
            <a:pPr algn="l"/>
            <a:r>
              <a:rPr sz="1100" b="0" i="0">
                <a:solidFill>
                  <a:srgbClr val="E0E8F4"/>
                </a:solidFill>
                <a:latin typeface="Consolas"/>
              </a:rPr>
              <a:t>  if (row[3] == "Present") counts[row[0]].first++;</a:t>
            </a:r>
          </a:p>
          <a:p>
            <a:pPr algn="l"/>
            <a:r>
              <a:rPr sz="1100" b="0" i="0">
                <a:solidFill>
                  <a:srgbClr val="E0E8F4"/>
                </a:solidFill>
                <a:latin typeface="Consolas"/>
              </a:rPr>
              <a:t>  else                       counts[row[0]].second++;</a:t>
            </a:r>
          </a:p>
          <a:p>
            <a:pPr algn="l"/>
            <a:r>
              <a:rPr sz="1100" b="0" i="0">
                <a:solidFill>
                  <a:srgbClr val="E0E8F4"/>
                </a:solidFill>
                <a:latin typeface="Consolas"/>
              </a:rPr>
              <a:t>}</a:t>
            </a:r>
          </a:p>
        </p:txBody>
      </p:sp>
      <p:sp>
        <p:nvSpPr>
          <p:cNvPr id="26" name="Rounded Rectangle 25"/>
          <p:cNvSpPr/>
          <p:nvPr/>
        </p:nvSpPr>
        <p:spPr>
          <a:xfrm>
            <a:off x="2743200" y="6446520"/>
            <a:ext cx="6675120" cy="36576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200" b="1">
                <a:solidFill>
                  <a:srgbClr val="FFFFFF"/>
                </a:solidFill>
                <a:latin typeface="Calibri"/>
              </a:rPr>
              <a:t>Python wins on conciseness · C++ wins on transparency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120640"/>
            <a:ext cx="12191695" cy="1828800"/>
          </a:xfrm>
          <a:prstGeom prst="rect">
            <a:avLst/>
          </a:prstGeom>
          <a:solidFill>
            <a:srgbClr val="142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48640"/>
            <a:ext cx="11247120" cy="731520"/>
          </a:xfrm>
          <a:prstGeom prst="rect">
            <a:avLst/>
          </a:prstGeom>
          <a:noFill/>
        </p:spPr>
        <p:txBody>
          <a:bodyPr wrap="square" lIns="45720" rIns="45720" tIns="18288" bIns="18288" anchor="t">
            <a:spAutoFit/>
          </a:bodyPr>
          <a:lstStyle/>
          <a:p>
            <a:pPr algn="l"/>
            <a:r>
              <a:rPr sz="4400" b="1" i="0">
                <a:solidFill>
                  <a:srgbClr val="FFFFFF"/>
                </a:solidFill>
                <a:latin typeface="Calibri"/>
              </a:rPr>
              <a:t>Wrapping Up</a:t>
            </a:r>
          </a:p>
        </p:txBody>
      </p:sp>
      <p:sp>
        <p:nvSpPr>
          <p:cNvPr id="5" name="Rectangle 4"/>
          <p:cNvSpPr/>
          <p:nvPr/>
        </p:nvSpPr>
        <p:spPr>
          <a:xfrm>
            <a:off x="457200" y="1280160"/>
            <a:ext cx="914400" cy="73152"/>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54480"/>
            <a:ext cx="11247120" cy="457200"/>
          </a:xfrm>
          <a:prstGeom prst="rect">
            <a:avLst/>
          </a:prstGeom>
          <a:noFill/>
        </p:spPr>
        <p:txBody>
          <a:bodyPr wrap="square" lIns="45720" rIns="45720" tIns="18288" bIns="18288" anchor="t">
            <a:spAutoFit/>
          </a:bodyPr>
          <a:lstStyle/>
          <a:p>
            <a:pPr algn="l"/>
            <a:r>
              <a:rPr sz="1100" b="1" i="0">
                <a:solidFill>
                  <a:srgbClr val="E3B341"/>
                </a:solidFill>
                <a:latin typeface="Calibri"/>
              </a:rPr>
              <a:t>THE VERDICT</a:t>
            </a:r>
          </a:p>
        </p:txBody>
      </p:sp>
      <p:sp>
        <p:nvSpPr>
          <p:cNvPr id="7" name="TextBox 6"/>
          <p:cNvSpPr txBox="1"/>
          <p:nvPr/>
        </p:nvSpPr>
        <p:spPr>
          <a:xfrm>
            <a:off x="457200" y="1874519"/>
            <a:ext cx="11247120" cy="1828800"/>
          </a:xfrm>
          <a:prstGeom prst="rect">
            <a:avLst/>
          </a:prstGeom>
          <a:noFill/>
        </p:spPr>
        <p:txBody>
          <a:bodyPr wrap="square" lIns="45720" rIns="45720" tIns="18288" bIns="18288" anchor="t">
            <a:spAutoFit/>
          </a:bodyPr>
          <a:lstStyle/>
          <a:p>
            <a:pPr algn="l"/>
            <a:r>
              <a:rPr sz="1800" b="0" i="1">
                <a:solidFill>
                  <a:srgbClr val="FFFFFF"/>
                </a:solidFill>
                <a:latin typeface="Calibri"/>
              </a:rPr>
              <a:t>Python was faster to write and the GUI looked polished with very little effort. C++ forced us to be explicit and produced a smaller, dependency-free binary, but every feature took noticeably longer to land. They are not in competition — they answer different questions.</a:t>
            </a:r>
          </a:p>
        </p:txBody>
      </p:sp>
      <p:sp>
        <p:nvSpPr>
          <p:cNvPr id="8" name="Rectangle 7"/>
          <p:cNvSpPr/>
          <p:nvPr/>
        </p:nvSpPr>
        <p:spPr>
          <a:xfrm>
            <a:off x="457200" y="3749039"/>
            <a:ext cx="2743200" cy="1097280"/>
          </a:xfrm>
          <a:prstGeom prst="rect">
            <a:avLst/>
          </a:prstGeom>
          <a:solidFill>
            <a:srgbClr val="142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3749039"/>
            <a:ext cx="73152" cy="1097280"/>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840480"/>
            <a:ext cx="2468880" cy="640080"/>
          </a:xfrm>
          <a:prstGeom prst="rect">
            <a:avLst/>
          </a:prstGeom>
          <a:noFill/>
        </p:spPr>
        <p:txBody>
          <a:bodyPr wrap="square" lIns="45720" rIns="45720" tIns="18288" bIns="18288" anchor="ctr">
            <a:spAutoFit/>
          </a:bodyPr>
          <a:lstStyle/>
          <a:p>
            <a:pPr algn="l"/>
            <a:r>
              <a:rPr sz="3600" b="1" i="0">
                <a:solidFill>
                  <a:srgbClr val="E3B341"/>
                </a:solidFill>
                <a:latin typeface="Calibri"/>
              </a:rPr>
              <a:t>2</a:t>
            </a:r>
          </a:p>
        </p:txBody>
      </p:sp>
      <p:sp>
        <p:nvSpPr>
          <p:cNvPr id="11" name="TextBox 10"/>
          <p:cNvSpPr txBox="1"/>
          <p:nvPr/>
        </p:nvSpPr>
        <p:spPr>
          <a:xfrm>
            <a:off x="640080" y="4434840"/>
            <a:ext cx="2468880" cy="320040"/>
          </a:xfrm>
          <a:prstGeom prst="rect">
            <a:avLst/>
          </a:prstGeom>
          <a:noFill/>
        </p:spPr>
        <p:txBody>
          <a:bodyPr wrap="square" lIns="45720" rIns="45720" tIns="18288" bIns="18288" anchor="ctr">
            <a:spAutoFit/>
          </a:bodyPr>
          <a:lstStyle/>
          <a:p>
            <a:pPr algn="l"/>
            <a:r>
              <a:rPr sz="1100" b="0" i="0">
                <a:solidFill>
                  <a:srgbClr val="FFFFFF"/>
                </a:solidFill>
                <a:latin typeface="Calibri"/>
              </a:rPr>
              <a:t>LANGUAGES</a:t>
            </a:r>
          </a:p>
        </p:txBody>
      </p:sp>
      <p:sp>
        <p:nvSpPr>
          <p:cNvPr id="12" name="Rectangle 11"/>
          <p:cNvSpPr/>
          <p:nvPr/>
        </p:nvSpPr>
        <p:spPr>
          <a:xfrm>
            <a:off x="3319272" y="3749039"/>
            <a:ext cx="2743200" cy="1097280"/>
          </a:xfrm>
          <a:prstGeom prst="rect">
            <a:avLst/>
          </a:prstGeom>
          <a:solidFill>
            <a:srgbClr val="142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9272" y="3749039"/>
            <a:ext cx="73152" cy="10972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2152" y="3840480"/>
            <a:ext cx="2468880" cy="640080"/>
          </a:xfrm>
          <a:prstGeom prst="rect">
            <a:avLst/>
          </a:prstGeom>
          <a:noFill/>
        </p:spPr>
        <p:txBody>
          <a:bodyPr wrap="square" lIns="45720" rIns="45720" tIns="18288" bIns="18288" anchor="ctr">
            <a:spAutoFit/>
          </a:bodyPr>
          <a:lstStyle/>
          <a:p>
            <a:pPr algn="l"/>
            <a:r>
              <a:rPr sz="3600" b="1" i="0">
                <a:solidFill>
                  <a:srgbClr val="1F6FEB"/>
                </a:solidFill>
                <a:latin typeface="Calibri"/>
              </a:rPr>
              <a:t>17</a:t>
            </a:r>
          </a:p>
        </p:txBody>
      </p:sp>
      <p:sp>
        <p:nvSpPr>
          <p:cNvPr id="15" name="TextBox 14"/>
          <p:cNvSpPr txBox="1"/>
          <p:nvPr/>
        </p:nvSpPr>
        <p:spPr>
          <a:xfrm>
            <a:off x="3502152" y="4434840"/>
            <a:ext cx="2468880" cy="320040"/>
          </a:xfrm>
          <a:prstGeom prst="rect">
            <a:avLst/>
          </a:prstGeom>
          <a:noFill/>
        </p:spPr>
        <p:txBody>
          <a:bodyPr wrap="square" lIns="45720" rIns="45720" tIns="18288" bIns="18288" anchor="ctr">
            <a:spAutoFit/>
          </a:bodyPr>
          <a:lstStyle/>
          <a:p>
            <a:pPr algn="l"/>
            <a:r>
              <a:rPr sz="1100" b="0" i="0">
                <a:solidFill>
                  <a:srgbClr val="FFFFFF"/>
                </a:solidFill>
                <a:latin typeface="Calibri"/>
              </a:rPr>
              <a:t>SERVER ACTIONS</a:t>
            </a:r>
          </a:p>
        </p:txBody>
      </p:sp>
      <p:sp>
        <p:nvSpPr>
          <p:cNvPr id="16" name="Rectangle 15"/>
          <p:cNvSpPr/>
          <p:nvPr/>
        </p:nvSpPr>
        <p:spPr>
          <a:xfrm>
            <a:off x="6181344" y="3749039"/>
            <a:ext cx="2743200" cy="1097280"/>
          </a:xfrm>
          <a:prstGeom prst="rect">
            <a:avLst/>
          </a:prstGeom>
          <a:solidFill>
            <a:srgbClr val="142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1344" y="3749039"/>
            <a:ext cx="73152" cy="1097280"/>
          </a:xfrm>
          <a:prstGeom prst="rect">
            <a:avLst/>
          </a:prstGeom>
          <a:solidFill>
            <a:srgbClr val="2EA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3840480"/>
            <a:ext cx="2468880" cy="640080"/>
          </a:xfrm>
          <a:prstGeom prst="rect">
            <a:avLst/>
          </a:prstGeom>
          <a:noFill/>
        </p:spPr>
        <p:txBody>
          <a:bodyPr wrap="square" lIns="45720" rIns="45720" tIns="18288" bIns="18288" anchor="ctr">
            <a:spAutoFit/>
          </a:bodyPr>
          <a:lstStyle/>
          <a:p>
            <a:pPr algn="l"/>
            <a:r>
              <a:rPr sz="3600" b="1" i="0">
                <a:solidFill>
                  <a:srgbClr val="2EA043"/>
                </a:solidFill>
                <a:latin typeface="Calibri"/>
              </a:rPr>
              <a:t>21</a:t>
            </a:r>
          </a:p>
        </p:txBody>
      </p:sp>
      <p:sp>
        <p:nvSpPr>
          <p:cNvPr id="19" name="TextBox 18"/>
          <p:cNvSpPr txBox="1"/>
          <p:nvPr/>
        </p:nvSpPr>
        <p:spPr>
          <a:xfrm>
            <a:off x="6364224" y="4434840"/>
            <a:ext cx="2468880" cy="320040"/>
          </a:xfrm>
          <a:prstGeom prst="rect">
            <a:avLst/>
          </a:prstGeom>
          <a:noFill/>
        </p:spPr>
        <p:txBody>
          <a:bodyPr wrap="square" lIns="45720" rIns="45720" tIns="18288" bIns="18288" anchor="ctr">
            <a:spAutoFit/>
          </a:bodyPr>
          <a:lstStyle/>
          <a:p>
            <a:pPr algn="l"/>
            <a:r>
              <a:rPr sz="1100" b="0" i="0">
                <a:solidFill>
                  <a:srgbClr val="FFFFFF"/>
                </a:solidFill>
                <a:latin typeface="Calibri"/>
              </a:rPr>
              <a:t>SCREENSHOTS</a:t>
            </a:r>
          </a:p>
        </p:txBody>
      </p:sp>
      <p:sp>
        <p:nvSpPr>
          <p:cNvPr id="20" name="Rectangle 19"/>
          <p:cNvSpPr/>
          <p:nvPr/>
        </p:nvSpPr>
        <p:spPr>
          <a:xfrm>
            <a:off x="9043416" y="3749039"/>
            <a:ext cx="2743200" cy="1097280"/>
          </a:xfrm>
          <a:prstGeom prst="rect">
            <a:avLst/>
          </a:prstGeom>
          <a:solidFill>
            <a:srgbClr val="1428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043416" y="3749039"/>
            <a:ext cx="73152" cy="1097280"/>
          </a:xfrm>
          <a:prstGeom prst="rect">
            <a:avLst/>
          </a:prstGeom>
          <a:solidFill>
            <a:srgbClr val="CF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26296" y="3840480"/>
            <a:ext cx="2468880" cy="640080"/>
          </a:xfrm>
          <a:prstGeom prst="rect">
            <a:avLst/>
          </a:prstGeom>
          <a:noFill/>
        </p:spPr>
        <p:txBody>
          <a:bodyPr wrap="square" lIns="45720" rIns="45720" tIns="18288" bIns="18288" anchor="ctr">
            <a:spAutoFit/>
          </a:bodyPr>
          <a:lstStyle/>
          <a:p>
            <a:pPr algn="l"/>
            <a:r>
              <a:rPr sz="3600" b="1" i="0">
                <a:solidFill>
                  <a:srgbClr val="CF222E"/>
                </a:solidFill>
                <a:latin typeface="Calibri"/>
              </a:rPr>
              <a:t>34</a:t>
            </a:r>
          </a:p>
        </p:txBody>
      </p:sp>
      <p:sp>
        <p:nvSpPr>
          <p:cNvPr id="23" name="TextBox 22"/>
          <p:cNvSpPr txBox="1"/>
          <p:nvPr/>
        </p:nvSpPr>
        <p:spPr>
          <a:xfrm>
            <a:off x="9226296" y="4434840"/>
            <a:ext cx="2468880" cy="320040"/>
          </a:xfrm>
          <a:prstGeom prst="rect">
            <a:avLst/>
          </a:prstGeom>
          <a:noFill/>
        </p:spPr>
        <p:txBody>
          <a:bodyPr wrap="square" lIns="45720" rIns="45720" tIns="18288" bIns="18288" anchor="ctr">
            <a:spAutoFit/>
          </a:bodyPr>
          <a:lstStyle/>
          <a:p>
            <a:pPr algn="l"/>
            <a:r>
              <a:rPr sz="1100" b="0" i="0">
                <a:solidFill>
                  <a:srgbClr val="FFFFFF"/>
                </a:solidFill>
                <a:latin typeface="Calibri"/>
              </a:rPr>
              <a:t>FILES IN REPO</a:t>
            </a:r>
          </a:p>
        </p:txBody>
      </p:sp>
      <p:sp>
        <p:nvSpPr>
          <p:cNvPr id="24" name="TextBox 23"/>
          <p:cNvSpPr txBox="1"/>
          <p:nvPr/>
        </p:nvSpPr>
        <p:spPr>
          <a:xfrm>
            <a:off x="457200" y="5303520"/>
            <a:ext cx="11247120" cy="457200"/>
          </a:xfrm>
          <a:prstGeom prst="rect">
            <a:avLst/>
          </a:prstGeom>
          <a:noFill/>
        </p:spPr>
        <p:txBody>
          <a:bodyPr wrap="square" lIns="45720" rIns="45720" tIns="18288" bIns="18288" anchor="t">
            <a:spAutoFit/>
          </a:bodyPr>
          <a:lstStyle/>
          <a:p>
            <a:pPr algn="ctr"/>
            <a:r>
              <a:rPr sz="2800" b="1" i="0">
                <a:solidFill>
                  <a:srgbClr val="E3B341"/>
                </a:solidFill>
                <a:latin typeface="Calibri"/>
              </a:rPr>
              <a:t>Live Demo  ·  Q &amp; A</a:t>
            </a:r>
          </a:p>
        </p:txBody>
      </p:sp>
      <p:sp>
        <p:nvSpPr>
          <p:cNvPr id="25" name="TextBox 24"/>
          <p:cNvSpPr txBox="1"/>
          <p:nvPr/>
        </p:nvSpPr>
        <p:spPr>
          <a:xfrm>
            <a:off x="457200" y="5897880"/>
            <a:ext cx="11247120" cy="365760"/>
          </a:xfrm>
          <a:prstGeom prst="rect">
            <a:avLst/>
          </a:prstGeom>
          <a:noFill/>
        </p:spPr>
        <p:txBody>
          <a:bodyPr wrap="square" lIns="45720" rIns="45720" tIns="18288" bIns="18288" anchor="t">
            <a:spAutoFit/>
          </a:bodyPr>
          <a:lstStyle/>
          <a:p>
            <a:pPr algn="ctr"/>
            <a:r>
              <a:rPr sz="1200" b="0" i="1">
                <a:solidFill>
                  <a:srgbClr val="B8C8DC"/>
                </a:solidFill>
                <a:latin typeface="Calibri"/>
              </a:rPr>
              <a:t>github.com/abdullahalsaedi2003-dotcom/adaved-programing-project</a:t>
            </a:r>
          </a:p>
        </p:txBody>
      </p:sp>
      <p:sp>
        <p:nvSpPr>
          <p:cNvPr id="26" name="TextBox 25"/>
          <p:cNvSpPr txBox="1"/>
          <p:nvPr/>
        </p:nvSpPr>
        <p:spPr>
          <a:xfrm>
            <a:off x="457200" y="6263640"/>
            <a:ext cx="11247120" cy="365760"/>
          </a:xfrm>
          <a:prstGeom prst="rect">
            <a:avLst/>
          </a:prstGeom>
          <a:noFill/>
        </p:spPr>
        <p:txBody>
          <a:bodyPr wrap="square" lIns="45720" rIns="45720" tIns="18288" bIns="18288" anchor="t">
            <a:spAutoFit/>
          </a:bodyPr>
          <a:lstStyle/>
          <a:p>
            <a:pPr algn="ctr"/>
            <a:r>
              <a:rPr sz="1400" b="1" i="0">
                <a:solidFill>
                  <a:srgbClr val="FFFFFF"/>
                </a:solidFill>
                <a:latin typeface="Calibri"/>
              </a:rPr>
              <a:t>Thank you  ·  Ahmed · Abdulaziz · Abdullah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